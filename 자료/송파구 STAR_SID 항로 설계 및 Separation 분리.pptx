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4" r:id="rId10"/>
    <p:sldId id="265" r:id="rId11"/>
    <p:sldId id="268" r:id="rId12"/>
    <p:sldId id="269" r:id="rId13"/>
    <p:sldId id="270" r:id="rId14"/>
    <p:sldId id="271" r:id="rId15"/>
    <p:sldId id="262" r:id="rId16"/>
  </p:sldIdLst>
  <p:sldSz cx="12192000" cy="6858000"/>
  <p:notesSz cx="6858000" cy="9144000"/>
  <p:embeddedFontLst>
    <p:embeddedFont>
      <p:font typeface="Noto Sans KR" panose="020B0200000000000000" pitchFamily="50" charset="-127"/>
      <p:regular r:id="rId17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63867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81225"/>
            <a:ext cx="177849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638425"/>
            <a:ext cx="910113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sz="3600" b="1" i="0" u="none">
                <a:solidFill>
                  <a:srgbClr val="F8FAFC"/>
                </a:solidFill>
                <a:latin typeface="Noto Sans KR"/>
              </a:rPr>
              <a:t>송파구 STAR/SID 항로 설계 및</a:t>
            </a:r>
            <a:r>
              <a:t>
</a:t>
            </a:r>
            <a:r>
              <a:rPr sz="3600" b="1" i="0" u="none">
                <a:solidFill>
                  <a:srgbClr val="F8FAFC"/>
                </a:solidFill>
                <a:latin typeface="Noto Sans KR"/>
              </a:rPr>
              <a:t> Separation 분리 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971925"/>
            <a:ext cx="9525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Noto Sans KR"/>
              </a:rPr>
              <a:t>객체 탐지 기반 옥상 헬리포트 선정 및 장애물 제한표면(OLS) 검토 연구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49" y="2209800"/>
            <a:ext cx="378637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Noto Sans KR"/>
              </a:rPr>
              <a:t>UAM &amp; HELIPORT ROUTE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05087"/>
            <a:ext cx="4736455" cy="1266825"/>
          </a:xfrm>
          <a:prstGeom prst="roundRect">
            <a:avLst>
              <a:gd name="adj" fmla="val 90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062412"/>
            <a:ext cx="4736455" cy="1266825"/>
          </a:xfrm>
          <a:prstGeom prst="roundRect">
            <a:avLst>
              <a:gd name="adj" fmla="val 90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855" y="1681162"/>
            <a:ext cx="5931544" cy="457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876550"/>
            <a:ext cx="148232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333875"/>
            <a:ext cx="148232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5064621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01. HELIPORT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34017" y="885825"/>
            <a:ext cx="168547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Noto Sans KR"/>
              </a:rPr>
              <a:t>객체 탐지 및 현장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66750"/>
            <a:ext cx="6522299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Noto Sans KR"/>
              </a:rPr>
              <a:t>롯데월드 반경 2km 옥상 헬리포트 탐색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176587"/>
            <a:ext cx="43554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Noto Sans KR"/>
              </a:rPr>
              <a:t>롯데월드 중심 반경 2km 이내 고층건물 대상 옥상 헬리포트 위치 1차 탐색.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633912"/>
            <a:ext cx="43554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Noto Sans KR"/>
              </a:rPr>
              <a:t>단순 'H' 마킹만 존재하는 부적합 장소 다수 포함되어 세부 착륙 기준 재검토 필요.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257" y="2843212"/>
            <a:ext cx="3347879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Noto Sans KR"/>
              </a:rPr>
              <a:t>객체 탐지 모델 및 수작업 도출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257" y="4300537"/>
            <a:ext cx="270873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Noto Sans KR"/>
              </a:rPr>
              <a:t>현장 착륙 적합성 한계점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3659382-2227-D94E-A06D-E3EF24A597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253" y="1918606"/>
            <a:ext cx="4526747" cy="40971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14562"/>
            <a:ext cx="5418385" cy="10668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33762"/>
            <a:ext cx="5418385" cy="10668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652962"/>
            <a:ext cx="5418385" cy="10668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214562"/>
            <a:ext cx="38100" cy="1066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433762"/>
            <a:ext cx="38100" cy="10668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652962"/>
            <a:ext cx="38100" cy="10668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785" y="1871662"/>
            <a:ext cx="5249614" cy="419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4207073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02. DATA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4375" y="885825"/>
            <a:ext cx="197253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Noto Sans KR"/>
              </a:rPr>
              <a:t>학술 연구 및 정보공개청구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66750"/>
            <a:ext cx="5396768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Noto Sans KR"/>
              </a:rPr>
              <a:t>기종별 헬기장 선정 및 행정 절차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405062"/>
            <a:ext cx="65615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Noto Sans KR"/>
              </a:rPr>
              <a:t>학술 논문 기반 제원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90812"/>
            <a:ext cx="509453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박초롱 외(2023) 연구를 활용하여 AW-189 및 AS-365N2 기종 운용에 부합하는 옥상 헬기장 재선정.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624262"/>
            <a:ext cx="65615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Noto Sans KR"/>
              </a:rPr>
              <a:t>정보공개청구 진행 상황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910012"/>
            <a:ext cx="509453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정확한 옥상 헬기장 위치 데이터 확보를 위해 반출 신청을 완료하였으며, 현재 결재 대기 중.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843462"/>
            <a:ext cx="65615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Noto Sans KR"/>
              </a:rPr>
              <a:t>선제적 경로 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5129212"/>
            <a:ext cx="509453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현재 도출된 헬리포트 후보지를 대상으로 STAR/SID 항로 생성을 선제적으로 수행 중.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9B93C66-3E77-3496-7D35-42A53400C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791" y="2037623"/>
            <a:ext cx="3358276" cy="38443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14587"/>
            <a:ext cx="4701926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062412"/>
            <a:ext cx="4701926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7725" y="2633662"/>
            <a:ext cx="720328" cy="219075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4281487"/>
            <a:ext cx="720328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326" y="1681162"/>
            <a:ext cx="5966073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5556051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03. OLS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6810" y="885825"/>
            <a:ext cx="17319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Noto Sans KR"/>
              </a:rPr>
              <a:t>FAA 버티포트 진입표면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66750"/>
            <a:ext cx="7167302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 dirty="0">
                <a:solidFill>
                  <a:srgbClr val="0F172A"/>
                </a:solidFill>
                <a:latin typeface="Noto Sans KR"/>
              </a:rPr>
              <a:t>UAM </a:t>
            </a:r>
            <a:r>
              <a:rPr sz="2250" b="1" i="0" u="none" dirty="0" err="1">
                <a:solidFill>
                  <a:srgbClr val="0F172A"/>
                </a:solidFill>
                <a:latin typeface="Noto Sans KR"/>
              </a:rPr>
              <a:t>버티포트</a:t>
            </a:r>
            <a:r>
              <a:rPr sz="22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250" b="1" i="0" u="none" dirty="0" err="1">
                <a:solidFill>
                  <a:srgbClr val="0F172A"/>
                </a:solidFill>
                <a:latin typeface="Noto Sans KR"/>
              </a:rPr>
              <a:t>장애물</a:t>
            </a:r>
            <a:r>
              <a:rPr sz="22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250" b="1" i="0" u="none" dirty="0" err="1">
                <a:solidFill>
                  <a:srgbClr val="0F172A"/>
                </a:solidFill>
                <a:latin typeface="Noto Sans KR"/>
              </a:rPr>
              <a:t>제한표면</a:t>
            </a:r>
            <a:r>
              <a:rPr sz="2250" b="1" i="0" u="none" dirty="0">
                <a:solidFill>
                  <a:srgbClr val="0F172A"/>
                </a:solidFill>
                <a:latin typeface="Noto Sans KR"/>
              </a:rPr>
              <a:t>(OLS) </a:t>
            </a:r>
            <a:r>
              <a:rPr sz="2250" b="1" i="0" u="none" dirty="0" err="1">
                <a:solidFill>
                  <a:srgbClr val="0F172A"/>
                </a:solidFill>
                <a:latin typeface="Noto Sans KR"/>
              </a:rPr>
              <a:t>검토</a:t>
            </a:r>
            <a:endParaRPr sz="2250" b="1" i="0" u="none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2975" y="2671762"/>
            <a:ext cx="625078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Noto Sans KR"/>
              </a:rPr>
              <a:t>참고 문헌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947987"/>
            <a:ext cx="554620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유태정 (2023) 연구 활용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233737"/>
            <a:ext cx="432092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"UAM 버티포트의 장애물 제한표면 적용 기준에 관한 연구" 자료를 바탕으로 진입표면 기준 수립.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975" y="4319587"/>
            <a:ext cx="625078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Noto Sans KR"/>
              </a:rPr>
              <a:t>주요 범위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595812"/>
            <a:ext cx="554620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진입표면(Approach Surface) 중심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881562"/>
            <a:ext cx="432092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도심 고층건물 간섭을 최소화하기 위하여 OLS 항목 중 '진입표면'을 최우선적으로 고려.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D2B5626-BA22-A9A4-0EC7-ED74B563F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96" y="2146289"/>
            <a:ext cx="3776053" cy="3832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24137"/>
            <a:ext cx="4497437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043362"/>
            <a:ext cx="4497437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837" y="1681162"/>
            <a:ext cx="6170562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4334023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04. REGULATION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0245" y="885825"/>
            <a:ext cx="160269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Noto Sans KR"/>
              </a:rPr>
              <a:t>2026년 3월 공개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66750"/>
            <a:ext cx="556339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Noto Sans KR"/>
              </a:rPr>
              <a:t>국토교통부 버티포트 설계안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862262"/>
            <a:ext cx="5277808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국토교통부 버티포트 설계안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195637"/>
            <a:ext cx="41164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Noto Sans KR"/>
              </a:rPr>
              <a:t>2026년 3월 국토교통부에서 공개한 버티포트 설계안은 FAA 진입표면 형태와 매우 유사하게 제정됨.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281487"/>
            <a:ext cx="5277808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주요 세부 제원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614862"/>
            <a:ext cx="41164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Noto Sans KR"/>
              </a:rPr>
              <a:t>8:1 진출입표면 및 2:1 전이표면 매개변수 적용, 원형/육각형 FATO 규격 포함.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6BD896F2-B418-5FFA-27B0-9AA483B05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990" y="2230564"/>
            <a:ext cx="4755007" cy="3625596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85987"/>
            <a:ext cx="4497437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24237"/>
            <a:ext cx="4497437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662487"/>
            <a:ext cx="4497437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262312"/>
            <a:ext cx="4497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185987"/>
            <a:ext cx="4497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185987"/>
            <a:ext cx="38100" cy="10858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97512" y="2185987"/>
            <a:ext cx="9525" cy="1085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500562"/>
            <a:ext cx="4497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3424237"/>
            <a:ext cx="4497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3424237"/>
            <a:ext cx="38100" cy="10858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97512" y="3424237"/>
            <a:ext cx="9525" cy="1085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600" y="5738812"/>
            <a:ext cx="4497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4662487"/>
            <a:ext cx="4497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600" y="4662487"/>
            <a:ext cx="38100" cy="108585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97512" y="4662487"/>
            <a:ext cx="9525" cy="1085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837" y="1681162"/>
            <a:ext cx="6170562" cy="457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457200"/>
            <a:ext cx="45085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05. FINAL ADOPTION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4425" y="885825"/>
            <a:ext cx="14724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Noto Sans KR"/>
              </a:rPr>
              <a:t>안전 여유 확보 설계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66750"/>
            <a:ext cx="579252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Noto Sans KR"/>
              </a:rPr>
              <a:t>최종 기준: 헬리포트 진입표면 적용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386012"/>
            <a:ext cx="534031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Noto Sans KR"/>
              </a:rPr>
              <a:t>버티포트 표면의 한계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671762"/>
            <a:ext cx="416406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버티포트 진입표면은 기존 헬리콥터 기준 대비 협소하여 도심 운용 시 안전성 확보에 한계 존재.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624262"/>
            <a:ext cx="534031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Noto Sans KR"/>
              </a:rPr>
              <a:t>헬리포트 진입표면 채택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3910012"/>
            <a:ext cx="416406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보수적 접근으로 헬리포트 진입표면 규격(경사도 8:1, 수평표면 45m, 반경 200m)을 기준 적용.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4862512"/>
            <a:ext cx="534031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Noto Sans KR"/>
              </a:rPr>
              <a:t>STAR/SID 경로 반영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5148262"/>
            <a:ext cx="416406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확장된 제한표면을 반영하여 송파구 고층건물과의 Separation 분리를 완벽히 설계.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C5D693F2-099D-A1DF-ECAB-D8E3E7BE7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332" y="2097361"/>
            <a:ext cx="5504060" cy="35491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95425"/>
            <a:ext cx="2628900" cy="490537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90900" y="1495425"/>
            <a:ext cx="2628900" cy="490537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200" y="1495425"/>
            <a:ext cx="2628900" cy="490537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53500" y="1495425"/>
            <a:ext cx="2628900" cy="490537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5876925"/>
            <a:ext cx="2152650" cy="28575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29025" y="5876925"/>
            <a:ext cx="2152650" cy="285750"/>
          </a:xfrm>
          <a:prstGeom prst="roundRect">
            <a:avLst>
              <a:gd name="adj" fmla="val 2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10325" y="5876925"/>
            <a:ext cx="2152650" cy="285750"/>
          </a:xfrm>
          <a:prstGeom prst="roundRect">
            <a:avLst>
              <a:gd name="adj" fmla="val 2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91625" y="5876925"/>
            <a:ext cx="2152650" cy="28575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7725" y="17335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29025" y="17335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10325" y="17335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91625" y="17335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5794623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06. ALGORITHM &amp; COLLISION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78491" y="885825"/>
            <a:ext cx="187988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Noto Sans KR"/>
              </a:rPr>
              <a:t>`장애물접근표면.py` 기반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66750"/>
            <a:ext cx="7480427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Noto Sans KR"/>
              </a:rPr>
              <a:t>OLS 생성 및 장애물 Collision 분석 알고리즘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893" y="5934075"/>
            <a:ext cx="25003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2563EB"/>
                </a:solidFill>
                <a:latin typeface="Noto Sans KR"/>
              </a:rPr>
              <a:t>기점 좌표화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5193" y="5934075"/>
            <a:ext cx="25003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284C7"/>
                </a:solidFill>
                <a:latin typeface="Noto Sans KR"/>
              </a:rPr>
              <a:t>방위각 1° 분할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493" y="5934075"/>
            <a:ext cx="25003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D97706"/>
                </a:solidFill>
                <a:latin typeface="Noto Sans KR"/>
              </a:rPr>
              <a:t>공간 평면 교차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7793" y="5934075"/>
            <a:ext cx="25003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DC2626"/>
                </a:solidFill>
                <a:latin typeface="Noto Sans KR"/>
              </a:rPr>
              <a:t>충돌 구간 자동 제거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173355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Noto Sans KR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2190750"/>
            <a:ext cx="282535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분석 기점 지정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2514600"/>
            <a:ext cx="22479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각 옥상헬기장 좌표</a:t>
            </a:r>
            <a:r>
              <a:rPr sz="1125" b="1" i="0" u="none">
                <a:solidFill>
                  <a:srgbClr val="475569"/>
                </a:solidFill>
                <a:latin typeface="Noto Sans KR"/>
              </a:rPr>
              <a:t>(x_long, y_lati)</a:t>
            </a:r>
            <a:r>
              <a:rPr sz="1125" b="0" i="0" u="none">
                <a:solidFill>
                  <a:srgbClr val="475569"/>
                </a:solidFill>
                <a:latin typeface="Noto Sans KR"/>
              </a:rPr>
              <a:t> 및 </a:t>
            </a:r>
            <a:r>
              <a:rPr sz="1125" b="1" i="0" u="none">
                <a:solidFill>
                  <a:srgbClr val="475569"/>
                </a:solidFill>
                <a:latin typeface="Noto Sans KR"/>
              </a:rPr>
              <a:t>A16 높이</a:t>
            </a:r>
            <a:r>
              <a:rPr sz="1125" b="0" i="0" u="none">
                <a:solidFill>
                  <a:srgbClr val="475569"/>
                </a:solidFill>
                <a:latin typeface="Noto Sans KR"/>
              </a:rPr>
              <a:t> 기준점을 공간 데이터로 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6150" y="173355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Noto Sans KR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9025" y="2190750"/>
            <a:ext cx="282535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360개 OLS 생성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9025" y="2514600"/>
            <a:ext cx="22479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Noto Sans KR"/>
              </a:rPr>
              <a:t>0° ~ 359°</a:t>
            </a:r>
            <a:r>
              <a:rPr sz="1125" b="0" i="0" u="none">
                <a:solidFill>
                  <a:srgbClr val="475569"/>
                </a:solidFill>
                <a:latin typeface="Noto Sans KR"/>
              </a:rPr>
              <a:t> 방위각 </a:t>
            </a:r>
            <a:r>
              <a:rPr sz="1125" b="1" i="0" u="none">
                <a:solidFill>
                  <a:srgbClr val="475569"/>
                </a:solidFill>
                <a:latin typeface="Noto Sans KR"/>
              </a:rPr>
              <a:t>1도 간격</a:t>
            </a:r>
            <a:r>
              <a:rPr sz="1125" b="0" i="0" u="none">
                <a:solidFill>
                  <a:srgbClr val="475569"/>
                </a:solidFill>
                <a:latin typeface="Noto Sans KR"/>
              </a:rPr>
              <a:t>으로 총 360개의 진입표면 삼각형 Polygon Z 생성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7450" y="173355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Noto Sans KR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0325" y="2190750"/>
            <a:ext cx="282535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2D Intersection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0325" y="2486025"/>
            <a:ext cx="22479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건물 SHP와 OLS 간 </a:t>
            </a:r>
            <a:r>
              <a:rPr sz="1125" b="1" i="0" u="none">
                <a:solidFill>
                  <a:srgbClr val="475569"/>
                </a:solidFill>
                <a:latin typeface="Noto Sans KR"/>
              </a:rPr>
              <a:t>2D 평면 시점 교차</a:t>
            </a:r>
            <a:r>
              <a:rPr sz="1125" b="0" i="0" u="none">
                <a:solidFill>
                  <a:srgbClr val="475569"/>
                </a:solidFill>
                <a:latin typeface="Noto Sans KR"/>
              </a:rPr>
              <a:t> 여부를 1차 필터링으로 분석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8750" y="173355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Noto Sans KR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1625" y="2190750"/>
            <a:ext cx="282535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Collision 필터링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1625" y="2514600"/>
            <a:ext cx="22479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OLS 표면고 관통/침범 시 </a:t>
            </a:r>
            <a:r>
              <a:rPr sz="1125" b="1" i="0" u="none">
                <a:solidFill>
                  <a:srgbClr val="475569"/>
                </a:solidFill>
                <a:latin typeface="Noto Sans KR"/>
              </a:rPr>
              <a:t>해당 방위각 OLS 제외</a:t>
            </a:r>
            <a:r>
              <a:rPr sz="1125" b="0" i="0" u="none">
                <a:solidFill>
                  <a:srgbClr val="475569"/>
                </a:solidFill>
                <a:latin typeface="Noto Sans KR"/>
              </a:rPr>
              <a:t>하여 안전 후보 선별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505450" y="1852612"/>
            <a:ext cx="6076950" cy="4191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081212"/>
            <a:ext cx="466725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395662"/>
            <a:ext cx="466725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681537"/>
            <a:ext cx="466725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43575" y="5395912"/>
            <a:ext cx="5600700" cy="409575"/>
          </a:xfrm>
          <a:prstGeom prst="roundRect">
            <a:avLst>
              <a:gd name="adj" fmla="val 186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43575" y="3128962"/>
            <a:ext cx="5600700" cy="409575"/>
          </a:xfrm>
          <a:prstGeom prst="roundRect">
            <a:avLst>
              <a:gd name="adj" fmla="val 18604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743575" y="3652837"/>
            <a:ext cx="5600700" cy="409575"/>
          </a:xfrm>
          <a:prstGeom prst="roundRect">
            <a:avLst>
              <a:gd name="adj" fmla="val 18604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743575" y="4176712"/>
            <a:ext cx="5600700" cy="409575"/>
          </a:xfrm>
          <a:prstGeom prst="roundRect">
            <a:avLst>
              <a:gd name="adj" fmla="val 18604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43575" y="3128962"/>
            <a:ext cx="57150" cy="4095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43575" y="3652837"/>
            <a:ext cx="57150" cy="409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43575" y="4176712"/>
            <a:ext cx="57150" cy="4095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876" y="2490787"/>
            <a:ext cx="266848" cy="342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4873823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07. OVERLAP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89343" y="885825"/>
            <a:ext cx="199132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Noto Sans KR"/>
              </a:rPr>
              <a:t>`중복.gpkg` 공간 교차 연산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66750"/>
            <a:ext cx="6271877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Noto Sans KR"/>
              </a:rPr>
              <a:t>OLS 진입표면 중첩 분석 및 밀도 산출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3575" y="2090737"/>
            <a:ext cx="64484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송파구 공중 회랑 밀도 등급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787" y="5510212"/>
            <a:ext cx="67722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Noto Sans KR"/>
              </a:rPr>
              <a:t>공간 분석 알고리즘 기반 중복 밀도 지도 생성 결과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2319337"/>
            <a:ext cx="101991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Noto Sans KR"/>
              </a:rPr>
              <a:t>최대 중첩 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3595687"/>
            <a:ext cx="56007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중첩 ID 집계 및 밀도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3900487"/>
            <a:ext cx="4362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`중복.gpkg` 공간 연산을 통해 각 방위각 폴리곤별 고유 타 버티포트 ID 중첩 개수를 산출하여 밀도 평가.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4881562"/>
            <a:ext cx="56007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항로 설계 시사점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5186362"/>
            <a:ext cx="4362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단순 개별 OLS 확보만으로는 불충분하며, 도심 상공 전체의 중첩 밀도를 감안한 통합 공중 회랑 분리 설계가 필수적임.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2538412"/>
            <a:ext cx="127094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DC2626"/>
                </a:solidFill>
                <a:latin typeface="Noto Sans KR"/>
              </a:rPr>
              <a:t>30개+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53125" y="3243262"/>
            <a:ext cx="270885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91B1B"/>
                </a:solidFill>
                <a:latin typeface="Noto Sans KR"/>
              </a:rPr>
              <a:t>고밀도 중첩 구역 (20개 이상 중복)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7658" y="3248025"/>
            <a:ext cx="115996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Noto Sans KR"/>
              </a:rPr>
              <a:t>비행 진입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53125" y="3767137"/>
            <a:ext cx="26050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2400E"/>
                </a:solidFill>
                <a:latin typeface="Noto Sans KR"/>
              </a:rPr>
              <a:t>중밀도 중첩 구역 (10~19개 중복)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7658" y="3771900"/>
            <a:ext cx="115996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Noto Sans KR"/>
              </a:rPr>
              <a:t>우회 경로 고려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3125" y="4291012"/>
            <a:ext cx="260951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6534"/>
                </a:solidFill>
                <a:latin typeface="Noto Sans KR"/>
              </a:rPr>
              <a:t>저밀도/단일 구역 (5개 이하 포함)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3900" y="4295775"/>
            <a:ext cx="14724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Noto Sans KR"/>
              </a:rPr>
              <a:t>안전 진입 회랑 후보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04135" y="1947862"/>
            <a:ext cx="5878264" cy="4000500"/>
          </a:xfrm>
          <a:prstGeom prst="roundRect">
            <a:avLst>
              <a:gd name="adj" fmla="val 380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24075"/>
            <a:ext cx="4789735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390900"/>
            <a:ext cx="4789735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657725"/>
            <a:ext cx="4789735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08935" y="4872037"/>
            <a:ext cx="5268664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08935" y="4872037"/>
            <a:ext cx="52686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700343" y="5072062"/>
            <a:ext cx="9525" cy="5715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352675"/>
            <a:ext cx="133498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619500"/>
            <a:ext cx="133498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886325"/>
            <a:ext cx="133498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648086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08. SAFE ZONE DERIVATION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9701" y="885825"/>
            <a:ext cx="227837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Noto Sans KR"/>
              </a:rPr>
              <a:t>`각 버티포트별 안전지대_2.py`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66750"/>
            <a:ext cx="8381125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Noto Sans KR"/>
              </a:rPr>
              <a:t>OLS 중첩 최소화 및 130° 이격 기반 안전지대 도출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8935" y="2252662"/>
            <a:ext cx="5363914" cy="1209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Noto Sans KR"/>
              </a:rPr>
              <a:t>FINAL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2609850"/>
            <a:ext cx="448493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중첩 개수 오름차순 및 방위각 순으로 상위 10개 및 중첩 5개 이하 후보 무조건 1차 선별.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3876675"/>
            <a:ext cx="448493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1차 방위각과 </a:t>
            </a:r>
            <a:r>
              <a:rPr sz="1125" b="1" i="0" u="none">
                <a:solidFill>
                  <a:srgbClr val="475569"/>
                </a:solidFill>
                <a:latin typeface="Noto Sans KR"/>
              </a:rPr>
              <a:t>원형 방위각 차이 130° 이상</a:t>
            </a:r>
            <a:r>
              <a:rPr sz="1125" b="0" i="0" u="none">
                <a:solidFill>
                  <a:srgbClr val="475569"/>
                </a:solidFill>
                <a:latin typeface="Noto Sans KR"/>
              </a:rPr>
              <a:t> 떨어진 후보 중 최저 중첩 방위각 매칭.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5143500"/>
            <a:ext cx="448493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Shapefile에는 1·2차 선택 합집합을 저장하고 CSV에 1차별 제 2 방위각 및 중첩 ID를 기록.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8935" y="2500312"/>
            <a:ext cx="6183064" cy="3219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sz="1950" b="1" i="0" u="none">
                <a:solidFill>
                  <a:srgbClr val="F8FAFC"/>
                </a:solidFill>
                <a:latin typeface="Noto Sans KR"/>
              </a:rPr>
              <a:t>130° 이격 이중 방위각 안전 회랑 산출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8935" y="2974627"/>
            <a:ext cx="5363914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Noto Sans KR"/>
              </a:rPr>
              <a:t>1차 최저 중첩 방위각과 130° 이상 물리적 분리가 확보된 제 2 방위각을 매칭하여, 도심 상공 다중 비행 경로 및 최적의 안전 회랑 수립 완료.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373" y="2324100"/>
            <a:ext cx="332443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1차 선택: 중첩 ≤ 5개 &amp; 상위 10개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8373" y="3590925"/>
            <a:ext cx="370378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2차 선택: 130° 이상 이격 제 2 방위각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8373" y="4857750"/>
            <a:ext cx="260891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데이터 저장 (SHP &amp; CSV)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1252" y="5072062"/>
            <a:ext cx="1221432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38BDF8"/>
                </a:solidFill>
                <a:latin typeface="Noto Sans KR"/>
              </a:rPr>
              <a:t>≤ 5개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1252" y="5472112"/>
            <a:ext cx="122143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Noto Sans KR"/>
              </a:rPr>
              <a:t>저중첩 포함 기준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7526" y="5072062"/>
            <a:ext cx="109760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34D399"/>
                </a:solidFill>
                <a:latin typeface="Noto Sans KR"/>
              </a:rPr>
              <a:t>130°+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7526" y="5414962"/>
            <a:ext cx="109760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Noto Sans KR"/>
              </a:rPr>
              <a:t>경로 이격 각도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47887"/>
            <a:ext cx="4530625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86137"/>
            <a:ext cx="4530625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624387"/>
            <a:ext cx="4530625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224212"/>
            <a:ext cx="45306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147887"/>
            <a:ext cx="45306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147887"/>
            <a:ext cx="38100" cy="10858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30700" y="2147887"/>
            <a:ext cx="9525" cy="1085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462462"/>
            <a:ext cx="45306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3386137"/>
            <a:ext cx="45306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3386137"/>
            <a:ext cx="38100" cy="10858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30700" y="3386137"/>
            <a:ext cx="9525" cy="1085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600" y="5700712"/>
            <a:ext cx="45306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4624387"/>
            <a:ext cx="45306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600" y="4624387"/>
            <a:ext cx="38100" cy="10858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30700" y="4624387"/>
            <a:ext cx="9525" cy="1085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025" y="1643062"/>
            <a:ext cx="6137374" cy="457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457200"/>
            <a:ext cx="469924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09. GIS MAPPING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8279" y="885825"/>
            <a:ext cx="19176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Noto Sans KR"/>
              </a:rPr>
              <a:t>QGIS/Shapefile 매핑 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66750"/>
            <a:ext cx="6042747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Noto Sans KR"/>
              </a:rPr>
              <a:t>도심 상공 안전지대 GIS 공간 시각화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347912"/>
            <a:ext cx="538387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130° 이격 이중 진입 회랑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633662"/>
            <a:ext cx="4197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녹색 폴리곤으로 시각화된 최적 안전 방위각이 송파구 전역 버티포트 주변에 펼쳐진 양상 확인.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586162"/>
            <a:ext cx="538387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고층건물 간섭 완벽 차단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3871912"/>
            <a:ext cx="4197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360° OLS 충돌 검증 알고리즘을 통과하여 건물 관통 위험이 0%인 안전 섹터만 최종 추출.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4824412"/>
            <a:ext cx="538387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다방향 이착륙 회랑 네트워크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5110162"/>
            <a:ext cx="4197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상호 130° 이상 물리적 이격이 확보된 주·보조 경로를 연계하여 비상 접근성 및 운용 효율 극대화.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5430B4AE-56C3-8A62-AF41-DA858CFD2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394" y="1856676"/>
            <a:ext cx="4302635" cy="41447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66937"/>
            <a:ext cx="4736455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05187"/>
            <a:ext cx="4736455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643437"/>
            <a:ext cx="4736455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243262"/>
            <a:ext cx="473645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166937"/>
            <a:ext cx="473645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166937"/>
            <a:ext cx="38100" cy="10858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6530" y="2166937"/>
            <a:ext cx="9525" cy="1085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481512"/>
            <a:ext cx="473645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3405187"/>
            <a:ext cx="473645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3405187"/>
            <a:ext cx="38100" cy="10858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6530" y="3405187"/>
            <a:ext cx="9525" cy="1085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600" y="5719762"/>
            <a:ext cx="473645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4643437"/>
            <a:ext cx="473645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600" y="4643437"/>
            <a:ext cx="38100" cy="10858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6530" y="4643437"/>
            <a:ext cx="9525" cy="1085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855" y="1662112"/>
            <a:ext cx="5931544" cy="457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457200"/>
            <a:ext cx="578926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12. OPERATIONAL FLOW &amp; ISSUES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71075" y="885825"/>
            <a:ext cx="163915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Noto Sans KR"/>
              </a:rPr>
              <a:t>터미널 공역 전환 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66750"/>
            <a:ext cx="7473394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Noto Sans KR"/>
              </a:rPr>
              <a:t>En-route ↔ STAR / SID 연계 및 운용 문제점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366962"/>
            <a:ext cx="565402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En-route / STAR / SID 연계 체계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652712"/>
            <a:ext cx="440308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광역 회랑(En-route)과 도심 버티포트 입출항 절차(STAR/SID) 간 다중 링(Multi-ring) 구조 기반 터미널 전환 연계.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605212"/>
            <a:ext cx="565402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단방향 회랑의 운용 한계점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3890962"/>
            <a:ext cx="440308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단일 방향 항로 구조에서는 반대 방향 전환 시 전체 360° 선회가 필요하여 도심 상공 체류 시간 증가 및 정체 발생.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4843462"/>
            <a:ext cx="565402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교차 간섭 및 공중 충돌 위험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5129212"/>
            <a:ext cx="440308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동일 고도 상에서 입출항 기체가 상호 교차할 경우 안전 이격 거리가 급격히 감소하여 정밀 분리 설계 필수.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6E56C0F-87FB-62AB-1B8A-65DAAD861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330" y="2034631"/>
            <a:ext cx="4882086" cy="38269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66950"/>
            <a:ext cx="4736455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505200"/>
            <a:ext cx="4736455" cy="8858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43425"/>
            <a:ext cx="4736455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343275"/>
            <a:ext cx="473645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266950"/>
            <a:ext cx="473645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266950"/>
            <a:ext cx="47625" cy="10858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6530" y="2266950"/>
            <a:ext cx="9525" cy="1085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381500"/>
            <a:ext cx="473645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3505200"/>
            <a:ext cx="473645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3505200"/>
            <a:ext cx="47625" cy="8858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6530" y="3505200"/>
            <a:ext cx="9525" cy="8858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600" y="5619750"/>
            <a:ext cx="473645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4543425"/>
            <a:ext cx="473645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600" y="4543425"/>
            <a:ext cx="47625" cy="10858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6530" y="4543425"/>
            <a:ext cx="9525" cy="1085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855" y="1662112"/>
            <a:ext cx="5931544" cy="457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457200"/>
            <a:ext cx="657254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13. JUNCTION &amp; SEPARATION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71075" y="885825"/>
            <a:ext cx="163915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Noto Sans KR"/>
              </a:rPr>
              <a:t>고도차 수직 이격 설계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66750"/>
            <a:ext cx="8501453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Noto Sans KR"/>
              </a:rPr>
              <a:t>Junction 반대 방향 선회 및 고도 분리(Separation)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2466975"/>
            <a:ext cx="56415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Noto Sans KR"/>
              </a:rPr>
              <a:t>Junction </a:t>
            </a:r>
            <a:r>
              <a:rPr sz="1350" b="1" i="0" u="none" dirty="0" err="1">
                <a:solidFill>
                  <a:srgbClr val="0F172A"/>
                </a:solidFill>
                <a:latin typeface="Noto Sans KR"/>
              </a:rPr>
              <a:t>교차</a:t>
            </a:r>
            <a:r>
              <a:rPr sz="13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Noto Sans KR"/>
              </a:rPr>
              <a:t>노드</a:t>
            </a:r>
            <a:r>
              <a:rPr sz="13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Noto Sans KR"/>
              </a:rPr>
              <a:t>도입</a:t>
            </a:r>
            <a:endParaRPr sz="1350" b="1" i="0" u="none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7725" y="2752725"/>
            <a:ext cx="439355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 err="1">
                <a:solidFill>
                  <a:srgbClr val="475569"/>
                </a:solidFill>
                <a:latin typeface="Noto Sans KR"/>
              </a:rPr>
              <a:t>항로</a:t>
            </a:r>
            <a:r>
              <a:rPr sz="1125" b="0" i="0" u="none" dirty="0">
                <a:solidFill>
                  <a:srgbClr val="475569"/>
                </a:solidFill>
                <a:latin typeface="Noto Sans KR"/>
              </a:rPr>
              <a:t> 간 </a:t>
            </a:r>
            <a:r>
              <a:rPr sz="1125" b="0" i="0" u="none" dirty="0" err="1">
                <a:solidFill>
                  <a:srgbClr val="475569"/>
                </a:solidFill>
                <a:latin typeface="Noto Sans KR"/>
              </a:rPr>
              <a:t>연결</a:t>
            </a:r>
            <a:r>
              <a:rPr sz="112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Noto Sans KR"/>
              </a:rPr>
              <a:t>Junction을</a:t>
            </a:r>
            <a:r>
              <a:rPr sz="112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Noto Sans KR"/>
              </a:rPr>
              <a:t>배치하여</a:t>
            </a:r>
            <a:r>
              <a:rPr sz="112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Noto Sans KR"/>
              </a:rPr>
              <a:t>반대</a:t>
            </a:r>
            <a:r>
              <a:rPr sz="112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Noto Sans KR"/>
              </a:rPr>
              <a:t>방향으로</a:t>
            </a:r>
            <a:r>
              <a:rPr sz="112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Noto Sans KR"/>
              </a:rPr>
              <a:t>즉시</a:t>
            </a:r>
            <a:r>
              <a:rPr sz="112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Noto Sans KR"/>
              </a:rPr>
              <a:t>회전</a:t>
            </a:r>
            <a:r>
              <a:rPr sz="112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Noto Sans KR"/>
              </a:rPr>
              <a:t>전환할</a:t>
            </a:r>
            <a:r>
              <a:rPr sz="1125" b="0" i="0" u="none" dirty="0">
                <a:solidFill>
                  <a:srgbClr val="475569"/>
                </a:solidFill>
                <a:latin typeface="Noto Sans KR"/>
              </a:rPr>
              <a:t> 수 </a:t>
            </a:r>
            <a:r>
              <a:rPr sz="1125" b="0" i="0" u="none" dirty="0" err="1">
                <a:solidFill>
                  <a:srgbClr val="475569"/>
                </a:solidFill>
                <a:latin typeface="Noto Sans KR"/>
              </a:rPr>
              <a:t>있도록</a:t>
            </a:r>
            <a:r>
              <a:rPr sz="112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Noto Sans KR"/>
              </a:rPr>
              <a:t>최적</a:t>
            </a:r>
            <a:r>
              <a:rPr sz="112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Noto Sans KR"/>
              </a:rPr>
              <a:t>회전</a:t>
            </a:r>
            <a:r>
              <a:rPr sz="112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Noto Sans KR"/>
              </a:rPr>
              <a:t>경로</a:t>
            </a:r>
            <a:r>
              <a:rPr sz="112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Noto Sans KR"/>
              </a:rPr>
              <a:t>구성</a:t>
            </a:r>
            <a:r>
              <a:rPr sz="1125" b="0" i="0" u="none" dirty="0">
                <a:solidFill>
                  <a:srgbClr val="475569"/>
                </a:solidFill>
                <a:latin typeface="Noto Sans KR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3705225"/>
            <a:ext cx="56415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RED LINE (주 항로 / 상행)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990975"/>
            <a:ext cx="53728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475569"/>
                </a:solidFill>
                <a:latin typeface="Noto Sans KR"/>
              </a:rPr>
              <a:t>1,500 ft</a:t>
            </a:r>
            <a:r>
              <a:rPr sz="1125" b="0" i="0" u="none">
                <a:solidFill>
                  <a:srgbClr val="475569"/>
                </a:solidFill>
                <a:latin typeface="Noto Sans KR"/>
              </a:rPr>
              <a:t> 고도 지정: 도심 접근 및 직진 주행용 주 공중 회랑 운용.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4743450"/>
            <a:ext cx="56415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BLUE LINE (복귀 항로 / 하행)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5029200"/>
            <a:ext cx="439355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475569"/>
                </a:solidFill>
                <a:latin typeface="Noto Sans KR"/>
              </a:rPr>
              <a:t>2,000 ft</a:t>
            </a:r>
            <a:r>
              <a:rPr sz="1125" b="0" i="0" u="none">
                <a:solidFill>
                  <a:srgbClr val="475569"/>
                </a:solidFill>
                <a:latin typeface="Noto Sans KR"/>
              </a:rPr>
              <a:t> 고도 지정: Junction 회전 및 반대 방향 우회 항로로 </a:t>
            </a:r>
            <a:r>
              <a:rPr sz="1125" b="1" i="0" u="none">
                <a:solidFill>
                  <a:srgbClr val="475569"/>
                </a:solidFill>
                <a:latin typeface="Noto Sans KR"/>
              </a:rPr>
              <a:t>500 ft 수직 이격</a:t>
            </a:r>
            <a:r>
              <a:rPr sz="1125" b="0" i="0" u="none">
                <a:solidFill>
                  <a:srgbClr val="475569"/>
                </a:solidFill>
                <a:latin typeface="Noto Sans KR"/>
              </a:rPr>
              <a:t> 완벽 보장.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5F6193F8-3AD3-3349-0E98-9389D68FD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186" y="2305278"/>
            <a:ext cx="5372882" cy="357141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B57B195-D838-7409-B584-4BD1D905CDD9}"/>
              </a:ext>
            </a:extLst>
          </p:cNvPr>
          <p:cNvSpPr txBox="1"/>
          <p:nvPr/>
        </p:nvSpPr>
        <p:spPr>
          <a:xfrm>
            <a:off x="6220606" y="2973821"/>
            <a:ext cx="31739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ko-KR" altLang="en-US" sz="135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김포</a:t>
            </a:r>
            <a:endParaRPr sz="1350" b="1" i="0" u="none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FFF771-8BE4-4F89-1B10-452A6A67DC85}"/>
              </a:ext>
            </a:extLst>
          </p:cNvPr>
          <p:cNvSpPr txBox="1"/>
          <p:nvPr/>
        </p:nvSpPr>
        <p:spPr>
          <a:xfrm>
            <a:off x="6220606" y="4764301"/>
            <a:ext cx="31739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ko-KR" altLang="en-US" sz="1350" b="1" i="0" u="none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인천</a:t>
            </a:r>
            <a:endParaRPr sz="1350" b="1" i="0" u="none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2F8242-5EDB-3CF1-6ADE-4B92F475366A}"/>
              </a:ext>
            </a:extLst>
          </p:cNvPr>
          <p:cNvSpPr txBox="1"/>
          <p:nvPr/>
        </p:nvSpPr>
        <p:spPr>
          <a:xfrm>
            <a:off x="10634763" y="3248925"/>
            <a:ext cx="31739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ko-KR" altLang="en-US" sz="135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춘천</a:t>
            </a:r>
            <a:endParaRPr sz="1350" b="1" i="0" u="none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C2B24D-9476-6D50-E16B-15A5B5EA4A4D}"/>
              </a:ext>
            </a:extLst>
          </p:cNvPr>
          <p:cNvSpPr txBox="1"/>
          <p:nvPr/>
        </p:nvSpPr>
        <p:spPr>
          <a:xfrm>
            <a:off x="9545809" y="5525400"/>
            <a:ext cx="31739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ko-KR" altLang="en-US" sz="135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용인</a:t>
            </a:r>
            <a:endParaRPr sz="1350" b="1" i="0" u="none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95425"/>
            <a:ext cx="5372100" cy="4905375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495425"/>
            <a:ext cx="5372100" cy="4905375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7725" y="5734050"/>
            <a:ext cx="4895850" cy="428625"/>
          </a:xfrm>
          <a:prstGeom prst="roundRect">
            <a:avLst>
              <a:gd name="adj" fmla="val 1777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48425" y="5734050"/>
            <a:ext cx="4895850" cy="428625"/>
          </a:xfrm>
          <a:prstGeom prst="roundRect">
            <a:avLst>
              <a:gd name="adj" fmla="val 17777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2228850"/>
            <a:ext cx="4895850" cy="859035"/>
          </a:xfrm>
          <a:prstGeom prst="roundRect">
            <a:avLst>
              <a:gd name="adj" fmla="val 887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3202185"/>
            <a:ext cx="4895850" cy="672405"/>
          </a:xfrm>
          <a:prstGeom prst="roundRect">
            <a:avLst>
              <a:gd name="adj" fmla="val 1133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3988891"/>
            <a:ext cx="4895850" cy="859035"/>
          </a:xfrm>
          <a:prstGeom prst="roundRect">
            <a:avLst>
              <a:gd name="adj" fmla="val 887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48425" y="2228850"/>
            <a:ext cx="489585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48425" y="2952750"/>
            <a:ext cx="489585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48425" y="3676650"/>
            <a:ext cx="4895850" cy="60960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7725" y="2228850"/>
            <a:ext cx="38100" cy="85903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7725" y="3202185"/>
            <a:ext cx="38100" cy="67240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7725" y="3988891"/>
            <a:ext cx="38100" cy="85903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91300" y="23526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91300" y="30765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91300" y="38004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733550"/>
            <a:ext cx="342900" cy="3429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1733550"/>
            <a:ext cx="342900" cy="3429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351" y="1819275"/>
            <a:ext cx="133498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51" y="1819275"/>
            <a:ext cx="133498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9600" y="457200"/>
            <a:ext cx="6937623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14. FUTURE WORK &amp; NEXT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7043" y="885825"/>
            <a:ext cx="32249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Noto Sans KR"/>
              </a:rPr>
              <a:t>UAM 수요 생성 &amp; CBS 알고리즘 파이프라인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66750"/>
            <a:ext cx="8980614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Noto Sans KR"/>
              </a:rPr>
              <a:t>추후 연구 계획: 수요 기반 스케줄링 및 CBS 충돌 해결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043" y="5848350"/>
            <a:ext cx="58912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D4ED8"/>
                </a:solidFill>
                <a:latin typeface="Noto Sans KR"/>
              </a:rPr>
              <a:t>시간대별 정밀 UAM 비행 요청 데이터베이스 구축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0743" y="5848350"/>
            <a:ext cx="58912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B45309"/>
                </a:solidFill>
                <a:latin typeface="Noto Sans KR"/>
              </a:rPr>
              <a:t>Conflict-Free 실시간 UAM 다중 기체 항로 스케줄러 완성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5875" y="1776412"/>
            <a:ext cx="444528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1. 수요 예측 및 비행 데이터 무작위 생성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6575" y="1776412"/>
            <a:ext cx="397315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2. 항로 연계 및 CBS 기반 충돌 해소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175" y="2362200"/>
            <a:ext cx="602575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Noto Sans KR"/>
              </a:rPr>
              <a:t>수요 예측 출처 데이터 활용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175" y="2581275"/>
            <a:ext cx="46863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Noto Sans KR"/>
              </a:rPr>
              <a:t>『관광형 UAM 수요추정연구』 중력모형 및 롯데월드 유동인구 실시간 데이터(Loplat Footlab) 결합 분석.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175" y="3335535"/>
            <a:ext cx="602575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Noto Sans KR"/>
              </a:rPr>
              <a:t>시간대별 예상 수요 분석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175" y="3554610"/>
            <a:ext cx="5738812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Noto Sans KR"/>
              </a:rPr>
              <a:t>피크타임 및 방문 패턴을 반영하여 시간대별 UAM 이용 예측 수요 도출.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175" y="4122241"/>
            <a:ext cx="602575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Noto Sans KR"/>
              </a:rPr>
              <a:t>비행 요청 객체 생성 (Random Generation)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175" y="4341316"/>
            <a:ext cx="46863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Noto Sans KR"/>
              </a:rPr>
              <a:t>예측 수요에 맞춰 [출발지 ➔ 도착지], [출발시간], [도착시간] 등 시뮬레이션용 비행 데이터 생성.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8425" y="2352675"/>
            <a:ext cx="5143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Noto Sans KR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8425" y="3076575"/>
            <a:ext cx="5143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Noto Sans KR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8425" y="3800475"/>
            <a:ext cx="5143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Noto Sans KR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4200" y="2352675"/>
            <a:ext cx="477110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Noto Sans KR"/>
              </a:rPr>
              <a:t>STAR / SID 구조 및 Junction 생성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4200" y="2543175"/>
            <a:ext cx="454390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Noto Sans KR"/>
              </a:rPr>
              <a:t>도심 버티포트 입출항 절차 및 Junction/Waypoint 공간 인프라 구축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34200" y="3076575"/>
            <a:ext cx="473184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Noto Sans KR"/>
              </a:rPr>
              <a:t>Separation 기반 Scheduling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34200" y="3267075"/>
            <a:ext cx="450651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Noto Sans KR"/>
              </a:rPr>
              <a:t>500 ft 수직 고도 분리 및 시간/거리 분리 기준에 따른 1차 스케줄링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4200" y="3800475"/>
            <a:ext cx="511079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2400E"/>
                </a:solidFill>
                <a:latin typeface="Noto Sans KR"/>
              </a:rPr>
              <a:t>CBS (Conflict-Based Search) 처리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34200" y="3990975"/>
            <a:ext cx="486742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8350F"/>
                </a:solidFill>
                <a:latin typeface="Noto Sans KR"/>
              </a:rPr>
              <a:t>미해결 공중 간섭/Conflict 발생 시 CBS 경로 탐색 알고리즘 재경로 부여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28750"/>
            <a:ext cx="3344465" cy="4895850"/>
          </a:xfrm>
          <a:prstGeom prst="roundRect">
            <a:avLst>
              <a:gd name="adj" fmla="val 45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44565" y="1428750"/>
            <a:ext cx="3902868" cy="4895850"/>
          </a:xfrm>
          <a:prstGeom prst="roundRect">
            <a:avLst>
              <a:gd name="adj" fmla="val 39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37934" y="1428750"/>
            <a:ext cx="3344465" cy="4895850"/>
          </a:xfrm>
          <a:prstGeom prst="roundRect">
            <a:avLst>
              <a:gd name="adj" fmla="val 45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5825" y="1704975"/>
            <a:ext cx="2792015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420790" y="1704975"/>
            <a:ext cx="3350418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14159" y="1704975"/>
            <a:ext cx="2792015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85825" y="2047875"/>
            <a:ext cx="2792015" cy="190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20790" y="2047875"/>
            <a:ext cx="3350418" cy="190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14159" y="2047875"/>
            <a:ext cx="2792015" cy="190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733550"/>
            <a:ext cx="133498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790" y="1733550"/>
            <a:ext cx="133498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4159" y="1733550"/>
            <a:ext cx="133498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4396382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Noto Sans KR"/>
              </a:rPr>
              <a:t>REFERENCES &amp; RESOURCES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84966" y="1000125"/>
            <a:ext cx="118318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4748B"/>
                </a:solidFill>
                <a:latin typeface="Space Grotesk"/>
              </a:rPr>
              <a:t>SLIDE 02 /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42950"/>
            <a:ext cx="5645236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참고문헌 및 프로젝트 출처 상세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573" y="1704975"/>
            <a:ext cx="240049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1. 프로젝트 코드 저장소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2219325"/>
            <a:ext cx="288726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Noto Sans KR"/>
              </a:rPr>
              <a:t>Landing_Departure_Process (shung2001)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2676525"/>
            <a:ext cx="288726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• STAR/SID 연계 구조 설계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Noto Sans KR"/>
              </a:rPr>
              <a:t> • Junction/Waypoint 자동 생성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Noto Sans KR"/>
              </a:rPr>
              <a:t> • Conflict Resolution(CBS) 시뮬레이션 알고리즘 구현 코드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9539" y="1704975"/>
            <a:ext cx="275073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2. 학술 논문 및 연구 보고서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0790" y="2219325"/>
            <a:ext cx="3445668" cy="750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Noto Sans KR"/>
              </a:rPr>
              <a:t>관광형 UAM 수요 추정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0790" y="3084016"/>
            <a:ext cx="3445668" cy="563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Noto Sans KR"/>
              </a:rPr>
              <a:t>터미널 공역 구조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0790" y="3762077"/>
            <a:ext cx="3445668" cy="563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Noto Sans KR"/>
              </a:rPr>
              <a:t>국가 표준 운용 개념 및 정책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42908" y="1704975"/>
            <a:ext cx="26880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3. 유동인구 및 데이터 자원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4159" y="2219325"/>
            <a:ext cx="2887265" cy="563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Noto Sans KR"/>
              </a:rPr>
              <a:t>시간대별 실시간 유동인구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14159" y="2916435"/>
            <a:ext cx="2887265" cy="563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Noto Sans KR"/>
              </a:rPr>
              <a:t>국내외 여행 실태 조사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0790" y="2409825"/>
            <a:ext cx="3445668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Noto Sans KR"/>
              </a:rPr>
              <a:t>이채림, 홍상연, 이진학 (2023). "관광형 UAM 수요추정 연구." 대한교통학회·한국도시계획가협회 공동학술대회 논문집.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0790" y="3274516"/>
            <a:ext cx="3445668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 dirty="0">
                <a:solidFill>
                  <a:srgbClr val="334155"/>
                </a:solidFill>
                <a:latin typeface="Noto Sans KR"/>
              </a:rPr>
              <a:t>"Operational Concept Design for Terminal Airspace of Multi-Vertiport System (MVS-TA)"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0790" y="3952577"/>
            <a:ext cx="3445668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Noto Sans KR"/>
              </a:rPr>
              <a:t>국토교통부 / UAM Team Korea (2021). "K-UAM Concept of Operation 1.0" 및 (2020) "K-UAM 로드맵".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14159" y="2409825"/>
            <a:ext cx="288726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Noto Sans KR"/>
              </a:rPr>
              <a:t>loplat FootLab 롯데월드 실시간 데이터 분석 플랫폼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14159" y="3106935"/>
            <a:ext cx="288726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Noto Sans KR"/>
              </a:rPr>
              <a:t>한국문화관광연구원 (2017). "2016 국제외래관광객 실태조사" &amp; "국민여행 실태조사 보고서".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10250" y="44862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343150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266" y="2514600"/>
            <a:ext cx="207466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20828" y="3181350"/>
            <a:ext cx="2750343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F8FAFC"/>
                </a:solidFill>
                <a:latin typeface="Noto Sans KR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0664" y="3895725"/>
            <a:ext cx="501067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Noto Sans KR"/>
              </a:rPr>
              <a:t>송파구 STAR/SID 항로 설계 및 Separation 분리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1367</Words>
  <Application>Microsoft Office PowerPoint</Application>
  <PresentationFormat>와이드스크린</PresentationFormat>
  <Paragraphs>169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Arial</vt:lpstr>
      <vt:lpstr>Space Grotesk</vt:lpstr>
      <vt:lpstr>Calibri</vt:lpstr>
      <vt:lpstr>Noto Sans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Hyunho Choi</dc:creator>
  <cp:keywords/>
  <dc:description>generated using python-pptx</dc:description>
  <cp:lastModifiedBy>최현호</cp:lastModifiedBy>
  <cp:revision>4</cp:revision>
  <dcterms:created xsi:type="dcterms:W3CDTF">2013-01-27T09:14:16Z</dcterms:created>
  <dcterms:modified xsi:type="dcterms:W3CDTF">2026-10-05T16:29:08Z</dcterms:modified>
  <cp:category/>
</cp:coreProperties>
</file>