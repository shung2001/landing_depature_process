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7" r:id="rId11"/>
    <p:sldId id="268" r:id="rId12"/>
    <p:sldId id="272" r:id="rId13"/>
    <p:sldId id="273" r:id="rId14"/>
    <p:sldId id="274" r:id="rId15"/>
    <p:sldId id="270" r:id="rId16"/>
  </p:sldIdLst>
  <p:sldSz cx="12192000" cy="6858000"/>
  <p:notesSz cx="6858000" cy="9144000"/>
  <p:embeddedFontLst>
    <p:embeddedFont>
      <p:font typeface="Noto Sans KR" panose="020B0200000000000000" pitchFamily="50" charset="-127"/>
      <p:regular r:id="rId17"/>
      <p:bold r:id="rId18"/>
    </p:embeddedFont>
    <p:embeddedFont>
      <p:font typeface="Pretendard Variable ExtraBold" panose="02000003000000020004" pitchFamily="2" charset="-127"/>
      <p:bold r:id="rId19"/>
    </p:embeddedFont>
    <p:embeddedFont>
      <p:font typeface="JetBrains Mono"/>
      <p:regular r:id="rId20"/>
    </p:embeddedFont>
    <p:embeddedFont>
      <p:font typeface="Pretendard" panose="02000503000000020004" pitchFamily="50" charset="-127"/>
      <p:regular r:id="rId21"/>
      <p:bold r:id="rId2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480" y="1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62000" y="4514850"/>
            <a:ext cx="5715000" cy="628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62000" y="1714500"/>
            <a:ext cx="1102816" cy="2476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62000" y="4514850"/>
            <a:ext cx="57150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667297" y="4752975"/>
            <a:ext cx="9525" cy="390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2000" y="2190750"/>
            <a:ext cx="9101137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sz="3600" b="1" i="0" u="none">
                <a:solidFill>
                  <a:srgbClr val="FFFFFF"/>
                </a:solidFill>
                <a:latin typeface="Pretendard"/>
              </a:rPr>
              <a:t>옥상헬기장 Approach &amp; Departure</a:t>
            </a:r>
            <a:r>
              <a:t>
</a:t>
            </a:r>
            <a:r>
              <a:rPr sz="3600" b="1" i="0" u="none">
                <a:solidFill>
                  <a:srgbClr val="FFFFFF"/>
                </a:solidFill>
                <a:latin typeface="Pretendard"/>
              </a:rPr>
              <a:t> 항로 최적화 및 평가 결과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524250"/>
            <a:ext cx="72390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94A3B8"/>
                </a:solidFill>
                <a:latin typeface="Pretendard"/>
              </a:rPr>
              <a:t>실제 운항 가능한 옥상 헬리포트 선정, OLS 중첩 최소화 알고리즘, 및 MVS-TA 터미널 공역 항로 설계 분석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1752600"/>
            <a:ext cx="969466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FFFF"/>
                </a:solidFill>
                <a:latin typeface="Pretendard"/>
              </a:rPr>
              <a:t>연구 경과 보고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0066" y="1752600"/>
            <a:ext cx="226925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Pretendard"/>
              </a:rPr>
              <a:t>10월 27일 이후 최종 정리 기준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4752975"/>
            <a:ext cx="200062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Pretendard"/>
              </a:rPr>
              <a:t>대상 지역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4943475"/>
            <a:ext cx="200062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Pretendard"/>
              </a:rPr>
              <a:t>송파구 신천로 200 인근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81622" y="4752975"/>
            <a:ext cx="2984748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Pretendard"/>
              </a:rPr>
              <a:t>핵심 알고리즘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81622" y="4943475"/>
            <a:ext cx="298474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Pretendard"/>
              </a:rPr>
              <a:t>좌표 하강법 (Coordinate Descent)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952261" y="624780"/>
            <a:ext cx="782538" cy="247650"/>
          </a:xfrm>
          <a:prstGeom prst="roundRect">
            <a:avLst>
              <a:gd name="adj" fmla="val 15384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1139130"/>
            <a:ext cx="3683049" cy="1347787"/>
          </a:xfrm>
          <a:prstGeom prst="roundRect">
            <a:avLst>
              <a:gd name="adj" fmla="val 848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2639317"/>
            <a:ext cx="3683049" cy="4005262"/>
          </a:xfrm>
          <a:prstGeom prst="roundRect">
            <a:avLst>
              <a:gd name="adj" fmla="val 310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2477392"/>
            <a:ext cx="36830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139130"/>
            <a:ext cx="36830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139130"/>
            <a:ext cx="38100" cy="134778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30724" y="1139130"/>
            <a:ext cx="9525" cy="134778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047511" y="662880"/>
            <a:ext cx="687288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Pretendard"/>
              </a:rPr>
              <a:t>10/27 기준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42900"/>
            <a:ext cx="9154604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retendard"/>
              </a:rPr>
              <a:t>STEP 01. SITE SELECTION &amp; OLS OVERVIEW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52450"/>
            <a:ext cx="9612334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1" i="0" u="none">
                <a:solidFill>
                  <a:srgbClr val="0F172A"/>
                </a:solidFill>
                <a:latin typeface="Pretendard"/>
              </a:rPr>
              <a:t>10월 27일 최종 정리: 실제 이착륙 헬리포트 선정 및 360° 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1339155"/>
            <a:ext cx="406803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retendard"/>
              </a:rPr>
              <a:t>서울 소방청 Data 기반 헬리포트 축소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1643955"/>
            <a:ext cx="3349674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 dirty="0" err="1">
                <a:solidFill>
                  <a:srgbClr val="475569"/>
                </a:solidFill>
                <a:latin typeface="Pretendard"/>
              </a:rPr>
              <a:t>서울</a:t>
            </a:r>
            <a:r>
              <a:rPr sz="1125" b="0" i="0" u="none" dirty="0">
                <a:solidFill>
                  <a:srgbClr val="475569"/>
                </a:solidFill>
                <a:latin typeface="Pretendard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Pretendard"/>
              </a:rPr>
              <a:t>소방청에서</a:t>
            </a:r>
            <a:r>
              <a:rPr sz="1125" b="0" i="0" u="none" dirty="0">
                <a:solidFill>
                  <a:srgbClr val="475569"/>
                </a:solidFill>
                <a:latin typeface="Pretendard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Pretendard"/>
              </a:rPr>
              <a:t>제공받은</a:t>
            </a:r>
            <a:r>
              <a:rPr sz="1125" b="0" i="0" u="none" dirty="0">
                <a:solidFill>
                  <a:srgbClr val="475569"/>
                </a:solidFill>
                <a:latin typeface="Pretendard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Pretendard"/>
              </a:rPr>
              <a:t>데이터를</a:t>
            </a:r>
            <a:r>
              <a:rPr sz="1125" b="0" i="0" u="none" dirty="0">
                <a:solidFill>
                  <a:srgbClr val="475569"/>
                </a:solidFill>
                <a:latin typeface="Pretendard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Pretendard"/>
              </a:rPr>
              <a:t>바탕으로</a:t>
            </a:r>
            <a:r>
              <a:rPr sz="1125" b="0" i="0" u="none" dirty="0">
                <a:solidFill>
                  <a:srgbClr val="475569"/>
                </a:solidFill>
                <a:latin typeface="Pretendard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Pretendard"/>
              </a:rPr>
              <a:t>실제</a:t>
            </a:r>
            <a:r>
              <a:rPr sz="1125" b="0" i="0" u="none" dirty="0">
                <a:solidFill>
                  <a:srgbClr val="475569"/>
                </a:solidFill>
                <a:latin typeface="Pretendard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Pretendard"/>
              </a:rPr>
              <a:t>이착륙이</a:t>
            </a:r>
            <a:r>
              <a:rPr sz="1125" b="0" i="0" u="none" dirty="0">
                <a:solidFill>
                  <a:srgbClr val="475569"/>
                </a:solidFill>
                <a:latin typeface="Pretendard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Pretendard"/>
              </a:rPr>
              <a:t>가능한</a:t>
            </a:r>
            <a:r>
              <a:rPr sz="1125" b="0" i="0" u="none" dirty="0">
                <a:solidFill>
                  <a:srgbClr val="475569"/>
                </a:solidFill>
                <a:latin typeface="Pretendard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Pretendard"/>
              </a:rPr>
              <a:t>옥상</a:t>
            </a:r>
            <a:r>
              <a:rPr sz="1125" b="0" i="0" u="none" dirty="0">
                <a:solidFill>
                  <a:srgbClr val="475569"/>
                </a:solidFill>
                <a:latin typeface="Pretendard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Pretendard"/>
              </a:rPr>
              <a:t>헬리포트를</a:t>
            </a:r>
            <a:r>
              <a:rPr sz="1125" b="0" i="0" u="none" dirty="0">
                <a:solidFill>
                  <a:srgbClr val="475569"/>
                </a:solidFill>
                <a:latin typeface="Pretendard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Pretendard"/>
              </a:rPr>
              <a:t>검토한</a:t>
            </a:r>
            <a:r>
              <a:rPr sz="1125" b="0" i="0" u="none" dirty="0">
                <a:solidFill>
                  <a:srgbClr val="475569"/>
                </a:solidFill>
                <a:latin typeface="Pretendard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Pretendard"/>
              </a:rPr>
              <a:t>결과</a:t>
            </a:r>
            <a:r>
              <a:rPr sz="1125" b="0" i="0" u="none" dirty="0">
                <a:solidFill>
                  <a:srgbClr val="475569"/>
                </a:solidFill>
                <a:latin typeface="Pretendard"/>
              </a:rPr>
              <a:t>, </a:t>
            </a:r>
            <a:r>
              <a:rPr sz="1125" b="0" i="0" u="none" dirty="0" err="1">
                <a:solidFill>
                  <a:srgbClr val="475569"/>
                </a:solidFill>
                <a:latin typeface="Pretendard"/>
              </a:rPr>
              <a:t>기존</a:t>
            </a:r>
            <a:r>
              <a:rPr sz="1125" b="0" i="0" u="none" dirty="0">
                <a:solidFill>
                  <a:srgbClr val="475569"/>
                </a:solidFill>
                <a:latin typeface="Pretendard"/>
              </a:rPr>
              <a:t> 30여 </a:t>
            </a:r>
            <a:r>
              <a:rPr sz="1125" b="0" i="0" u="none" dirty="0" err="1">
                <a:solidFill>
                  <a:srgbClr val="475569"/>
                </a:solidFill>
                <a:latin typeface="Pretendard"/>
              </a:rPr>
              <a:t>개에서</a:t>
            </a:r>
            <a:r>
              <a:rPr sz="1125" b="0" i="0" u="none" dirty="0">
                <a:solidFill>
                  <a:srgbClr val="475569"/>
                </a:solidFill>
                <a:latin typeface="Pretendard"/>
              </a:rPr>
              <a:t> </a:t>
            </a:r>
            <a:endParaRPr lang="en-US" sz="1125" b="0" i="0" u="none" dirty="0">
              <a:solidFill>
                <a:srgbClr val="475569"/>
              </a:solidFill>
              <a:latin typeface="Pretendard"/>
            </a:endParaRPr>
          </a:p>
          <a:p>
            <a:pPr algn="l">
              <a:lnSpc>
                <a:spcPts val="1687"/>
              </a:lnSpc>
            </a:pPr>
            <a:r>
              <a:rPr sz="1125" b="1" i="0" u="none" dirty="0" err="1">
                <a:solidFill>
                  <a:srgbClr val="475569"/>
                </a:solidFill>
                <a:latin typeface="Pretendard"/>
              </a:rPr>
              <a:t>최종</a:t>
            </a:r>
            <a:r>
              <a:rPr sz="1125" b="1" i="0" u="none" dirty="0">
                <a:solidFill>
                  <a:srgbClr val="475569"/>
                </a:solidFill>
                <a:latin typeface="Pretendard"/>
              </a:rPr>
              <a:t> 8개로 </a:t>
            </a:r>
            <a:r>
              <a:rPr sz="1125" b="1" i="0" u="none" dirty="0" err="1">
                <a:solidFill>
                  <a:srgbClr val="475569"/>
                </a:solidFill>
                <a:latin typeface="Pretendard"/>
              </a:rPr>
              <a:t>축소</a:t>
            </a:r>
            <a:r>
              <a:rPr sz="1125" b="0" i="0" u="none" dirty="0" err="1">
                <a:solidFill>
                  <a:srgbClr val="475569"/>
                </a:solidFill>
                <a:latin typeface="Pretendard"/>
              </a:rPr>
              <a:t>하였습니다</a:t>
            </a:r>
            <a:r>
              <a:rPr sz="1125" b="0" i="0" u="none" dirty="0">
                <a:solidFill>
                  <a:srgbClr val="475569"/>
                </a:solidFill>
                <a:latin typeface="Pretendard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7225" y="3989486"/>
            <a:ext cx="4103749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3000" b="1" i="0" u="none">
                <a:solidFill>
                  <a:srgbClr val="2563EB"/>
                </a:solidFill>
                <a:latin typeface="Pretendard"/>
              </a:rPr>
              <a:t>8개소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7225" y="4408586"/>
            <a:ext cx="4103749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retendard"/>
              </a:rPr>
              <a:t>최종 이착륙 가능 옥상 헬리포트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225" y="4694336"/>
            <a:ext cx="3378249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Pretendard"/>
              </a:rPr>
              <a:t>선정된 8개 옥상 헬리포트를 중심으로 360도 방위각에 대한 OLS(장애물제한표면) 기본 결과물을 도출하였습니다.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35474" y="5322985"/>
            <a:ext cx="4508562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 i="0" u="none" dirty="0" err="1">
                <a:solidFill>
                  <a:srgbClr val="64748B"/>
                </a:solidFill>
                <a:latin typeface="Pretendard"/>
              </a:rPr>
              <a:t>선정된</a:t>
            </a:r>
            <a:r>
              <a:rPr sz="900" b="0" i="0" u="none" dirty="0">
                <a:solidFill>
                  <a:srgbClr val="64748B"/>
                </a:solidFill>
                <a:latin typeface="Pretendard"/>
              </a:rPr>
              <a:t> 8개 </a:t>
            </a:r>
            <a:r>
              <a:rPr sz="900" b="0" i="0" u="none" dirty="0" err="1">
                <a:solidFill>
                  <a:srgbClr val="64748B"/>
                </a:solidFill>
                <a:latin typeface="Pretendard"/>
              </a:rPr>
              <a:t>옥상</a:t>
            </a:r>
            <a:r>
              <a:rPr sz="900" b="0" i="0" u="none" dirty="0">
                <a:solidFill>
                  <a:srgbClr val="64748B"/>
                </a:solidFill>
                <a:latin typeface="Pretendard"/>
              </a:rPr>
              <a:t> </a:t>
            </a:r>
            <a:r>
              <a:rPr sz="900" b="0" i="0" u="none" dirty="0" err="1">
                <a:solidFill>
                  <a:srgbClr val="64748B"/>
                </a:solidFill>
                <a:latin typeface="Pretendard"/>
              </a:rPr>
              <a:t>헬리포트</a:t>
            </a:r>
            <a:r>
              <a:rPr sz="900" b="0" i="0" u="none" dirty="0">
                <a:solidFill>
                  <a:srgbClr val="64748B"/>
                </a:solidFill>
                <a:latin typeface="Pretendard"/>
              </a:rPr>
              <a:t> </a:t>
            </a:r>
            <a:r>
              <a:rPr sz="900" b="0" i="0" u="none" dirty="0" err="1">
                <a:solidFill>
                  <a:srgbClr val="64748B"/>
                </a:solidFill>
                <a:latin typeface="Pretendard"/>
              </a:rPr>
              <a:t>위치</a:t>
            </a:r>
            <a:endParaRPr sz="900" b="0" i="0" u="none" dirty="0">
              <a:solidFill>
                <a:srgbClr val="64748B"/>
              </a:solidFill>
              <a:latin typeface="Pretendard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226237" y="5322985"/>
            <a:ext cx="4508562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 i="0" u="none" dirty="0">
                <a:solidFill>
                  <a:srgbClr val="64748B"/>
                </a:solidFill>
                <a:latin typeface="Pretendard"/>
              </a:rPr>
              <a:t>360도 </a:t>
            </a:r>
            <a:r>
              <a:rPr sz="900" b="0" i="0" u="none" dirty="0" err="1">
                <a:solidFill>
                  <a:srgbClr val="64748B"/>
                </a:solidFill>
                <a:latin typeface="Pretendard"/>
              </a:rPr>
              <a:t>방위각</a:t>
            </a:r>
            <a:r>
              <a:rPr sz="900" b="0" i="0" u="none" dirty="0">
                <a:solidFill>
                  <a:srgbClr val="64748B"/>
                </a:solidFill>
                <a:latin typeface="Pretendard"/>
              </a:rPr>
              <a:t> OLS </a:t>
            </a:r>
            <a:r>
              <a:rPr sz="900" b="0" i="0" u="none" dirty="0" err="1">
                <a:solidFill>
                  <a:srgbClr val="64748B"/>
                </a:solidFill>
                <a:latin typeface="Pretendard"/>
              </a:rPr>
              <a:t>결과물</a:t>
            </a:r>
            <a:endParaRPr sz="900" b="0" i="0" u="none" dirty="0">
              <a:solidFill>
                <a:srgbClr val="64748B"/>
              </a:solidFill>
              <a:latin typeface="Pretendard"/>
            </a:endParaRP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8BA9C76E-D1BD-D6B4-81E2-9662560011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079" y="2426226"/>
            <a:ext cx="2953264" cy="2693132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A84B4A48-AF46-56C5-9247-5DC0DBEF0F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8012" y="2426227"/>
            <a:ext cx="2585911" cy="269313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732442" y="624780"/>
            <a:ext cx="1002357" cy="247650"/>
          </a:xfrm>
          <a:prstGeom prst="roundRect">
            <a:avLst>
              <a:gd name="adj" fmla="val 15384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2563117"/>
            <a:ext cx="6026794" cy="1133475"/>
          </a:xfrm>
          <a:prstGeom prst="roundRect">
            <a:avLst>
              <a:gd name="adj" fmla="val 1008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3848992"/>
            <a:ext cx="6026794" cy="137160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3687067"/>
            <a:ext cx="602679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2563117"/>
            <a:ext cx="602679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2563117"/>
            <a:ext cx="38100" cy="1133475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74469" y="2563117"/>
            <a:ext cx="9525" cy="11334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2594" y="1769687"/>
            <a:ext cx="5022205" cy="40329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827692" y="662880"/>
            <a:ext cx="907107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Pretendard"/>
              </a:rPr>
              <a:t>현황 및 문제점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2900"/>
            <a:ext cx="524154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retendard"/>
              </a:rPr>
              <a:t>STEP 02. PROBLEM IDENTIFICATION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52450"/>
            <a:ext cx="5503617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1" i="0" u="none">
                <a:solidFill>
                  <a:srgbClr val="0F172A"/>
                </a:solidFill>
                <a:latin typeface="Pretendard"/>
              </a:rPr>
              <a:t>OLS 초기 분석 및 중첩 문제점 분석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0107" y="5955037"/>
            <a:ext cx="610718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 i="0" u="none" dirty="0">
                <a:solidFill>
                  <a:srgbClr val="64748B"/>
                </a:solidFill>
                <a:latin typeface="Pretendard"/>
              </a:rPr>
              <a:t>OLS </a:t>
            </a:r>
            <a:r>
              <a:rPr sz="900" b="0" i="0" u="none" dirty="0" err="1">
                <a:solidFill>
                  <a:srgbClr val="64748B"/>
                </a:solidFill>
                <a:latin typeface="Pretendard"/>
              </a:rPr>
              <a:t>중첩</a:t>
            </a:r>
            <a:r>
              <a:rPr sz="900" b="0" i="0" u="none" dirty="0">
                <a:solidFill>
                  <a:srgbClr val="64748B"/>
                </a:solidFill>
                <a:latin typeface="Pretendard"/>
              </a:rPr>
              <a:t> </a:t>
            </a:r>
            <a:r>
              <a:rPr sz="900" b="0" i="0" u="none" dirty="0" err="1">
                <a:solidFill>
                  <a:srgbClr val="64748B"/>
                </a:solidFill>
                <a:latin typeface="Pretendard"/>
              </a:rPr>
              <a:t>구역</a:t>
            </a:r>
            <a:r>
              <a:rPr sz="900" b="0" i="0" u="none" dirty="0">
                <a:solidFill>
                  <a:srgbClr val="64748B"/>
                </a:solidFill>
                <a:latin typeface="Pretendard"/>
              </a:rPr>
              <a:t> </a:t>
            </a:r>
            <a:r>
              <a:rPr sz="900" b="0" i="0" u="none" dirty="0" err="1">
                <a:solidFill>
                  <a:srgbClr val="64748B"/>
                </a:solidFill>
                <a:latin typeface="Pretendard"/>
              </a:rPr>
              <a:t>분석</a:t>
            </a:r>
            <a:r>
              <a:rPr sz="900" b="0" i="0" u="none" dirty="0">
                <a:solidFill>
                  <a:srgbClr val="64748B"/>
                </a:solidFill>
                <a:latin typeface="Pretendard"/>
              </a:rPr>
              <a:t> (</a:t>
            </a:r>
            <a:r>
              <a:rPr sz="900" b="0" i="0" u="none" dirty="0" err="1">
                <a:solidFill>
                  <a:srgbClr val="64748B"/>
                </a:solidFill>
                <a:latin typeface="Pretendard"/>
              </a:rPr>
              <a:t>최대</a:t>
            </a:r>
            <a:r>
              <a:rPr sz="900" b="0" i="0" u="none" dirty="0">
                <a:solidFill>
                  <a:srgbClr val="64748B"/>
                </a:solidFill>
                <a:latin typeface="Pretendard"/>
              </a:rPr>
              <a:t> 16개 </a:t>
            </a:r>
            <a:r>
              <a:rPr sz="900" b="0" i="0" u="none" dirty="0" err="1">
                <a:solidFill>
                  <a:srgbClr val="64748B"/>
                </a:solidFill>
                <a:latin typeface="Pretendard"/>
              </a:rPr>
              <a:t>중첩</a:t>
            </a:r>
            <a:r>
              <a:rPr sz="900" b="0" i="0" u="none" dirty="0">
                <a:solidFill>
                  <a:srgbClr val="64748B"/>
                </a:solidFill>
                <a:latin typeface="Pretendard"/>
              </a:rPr>
              <a:t> </a:t>
            </a:r>
            <a:r>
              <a:rPr sz="900" b="0" i="0" u="none" dirty="0" err="1">
                <a:solidFill>
                  <a:srgbClr val="64748B"/>
                </a:solidFill>
                <a:latin typeface="Pretendard"/>
              </a:rPr>
              <a:t>발생</a:t>
            </a:r>
            <a:r>
              <a:rPr sz="900" b="0" i="0" u="none" dirty="0">
                <a:solidFill>
                  <a:srgbClr val="64748B"/>
                </a:solidFill>
                <a:latin typeface="Pretendard"/>
              </a:rPr>
              <a:t>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763142"/>
            <a:ext cx="6997712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DC2626"/>
                </a:solidFill>
                <a:latin typeface="Pretendard"/>
              </a:rPr>
              <a:t>OLS 과다 중첩 문제 발생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067942"/>
            <a:ext cx="5693419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 dirty="0">
                <a:solidFill>
                  <a:srgbClr val="475569"/>
                </a:solidFill>
                <a:latin typeface="Pretendard"/>
              </a:rPr>
              <a:t>360도 전 </a:t>
            </a:r>
            <a:r>
              <a:rPr sz="1125" b="0" i="0" u="none" dirty="0" err="1">
                <a:solidFill>
                  <a:srgbClr val="475569"/>
                </a:solidFill>
                <a:latin typeface="Pretendard"/>
              </a:rPr>
              <a:t>방향</a:t>
            </a:r>
            <a:r>
              <a:rPr sz="1125" b="0" i="0" u="none" dirty="0">
                <a:solidFill>
                  <a:srgbClr val="475569"/>
                </a:solidFill>
                <a:latin typeface="Pretendard"/>
              </a:rPr>
              <a:t> OLS </a:t>
            </a:r>
            <a:r>
              <a:rPr sz="1125" b="0" i="0" u="none" dirty="0" err="1">
                <a:solidFill>
                  <a:srgbClr val="475569"/>
                </a:solidFill>
                <a:latin typeface="Pretendard"/>
              </a:rPr>
              <a:t>분석</a:t>
            </a:r>
            <a:r>
              <a:rPr sz="1125" b="0" i="0" u="none" dirty="0">
                <a:solidFill>
                  <a:srgbClr val="475569"/>
                </a:solidFill>
                <a:latin typeface="Pretendard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Pretendard"/>
              </a:rPr>
              <a:t>결과</a:t>
            </a:r>
            <a:r>
              <a:rPr sz="1125" b="0" i="0" u="none" dirty="0">
                <a:solidFill>
                  <a:srgbClr val="475569"/>
                </a:solidFill>
                <a:latin typeface="Pretendard"/>
              </a:rPr>
              <a:t>, </a:t>
            </a:r>
            <a:r>
              <a:rPr sz="1125" b="0" i="0" u="none" dirty="0" err="1">
                <a:solidFill>
                  <a:srgbClr val="475569"/>
                </a:solidFill>
                <a:latin typeface="Pretendard"/>
              </a:rPr>
              <a:t>중복</a:t>
            </a:r>
            <a:r>
              <a:rPr sz="1125" b="0" i="0" u="none" dirty="0">
                <a:solidFill>
                  <a:srgbClr val="475569"/>
                </a:solidFill>
                <a:latin typeface="Pretendard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Pretendard"/>
              </a:rPr>
              <a:t>영역이</a:t>
            </a:r>
            <a:r>
              <a:rPr sz="1125" b="0" i="0" u="none" dirty="0">
                <a:solidFill>
                  <a:srgbClr val="475569"/>
                </a:solidFill>
                <a:latin typeface="Pretendard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Pretendard"/>
              </a:rPr>
              <a:t>일부</a:t>
            </a:r>
            <a:r>
              <a:rPr sz="1125" b="0" i="0" u="none" dirty="0">
                <a:solidFill>
                  <a:srgbClr val="475569"/>
                </a:solidFill>
                <a:latin typeface="Pretendard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Pretendard"/>
              </a:rPr>
              <a:t>줄어들었으나</a:t>
            </a:r>
            <a:r>
              <a:rPr sz="1125" b="0" i="0" u="none" dirty="0">
                <a:solidFill>
                  <a:srgbClr val="475569"/>
                </a:solidFill>
                <a:latin typeface="Pretendard"/>
              </a:rPr>
              <a:t> </a:t>
            </a:r>
            <a:r>
              <a:rPr sz="1125" b="1" i="0" u="none" dirty="0" err="1">
                <a:solidFill>
                  <a:srgbClr val="FF0000"/>
                </a:solidFill>
                <a:latin typeface="Pretendard Variable ExtraBold" panose="02000003000000020004" pitchFamily="2" charset="-127"/>
                <a:ea typeface="Pretendard Variable ExtraBold" panose="02000003000000020004" pitchFamily="2" charset="-127"/>
                <a:cs typeface="Pretendard Variable ExtraBold" panose="02000003000000020004" pitchFamily="2" charset="-127"/>
              </a:rPr>
              <a:t>최대</a:t>
            </a:r>
            <a:r>
              <a:rPr sz="1125" b="1" i="0" u="none" dirty="0">
                <a:solidFill>
                  <a:srgbClr val="FF0000"/>
                </a:solidFill>
                <a:latin typeface="Pretendard Variable ExtraBold" panose="02000003000000020004" pitchFamily="2" charset="-127"/>
                <a:ea typeface="Pretendard Variable ExtraBold" panose="02000003000000020004" pitchFamily="2" charset="-127"/>
                <a:cs typeface="Pretendard Variable ExtraBold" panose="02000003000000020004" pitchFamily="2" charset="-127"/>
              </a:rPr>
              <a:t> 16곳이 </a:t>
            </a:r>
            <a:r>
              <a:rPr sz="1125" b="1" i="0" u="none" dirty="0" err="1">
                <a:solidFill>
                  <a:srgbClr val="FF0000"/>
                </a:solidFill>
                <a:latin typeface="Pretendard Variable ExtraBold" panose="02000003000000020004" pitchFamily="2" charset="-127"/>
                <a:ea typeface="Pretendard Variable ExtraBold" panose="02000003000000020004" pitchFamily="2" charset="-127"/>
                <a:cs typeface="Pretendard Variable ExtraBold" panose="02000003000000020004" pitchFamily="2" charset="-127"/>
              </a:rPr>
              <a:t>중첩</a:t>
            </a:r>
            <a:r>
              <a:rPr sz="1125" b="0" i="0" u="none" dirty="0" err="1">
                <a:solidFill>
                  <a:srgbClr val="475569"/>
                </a:solidFill>
                <a:latin typeface="Pretendard"/>
              </a:rPr>
              <a:t>되는</a:t>
            </a:r>
            <a:r>
              <a:rPr sz="1125" b="0" i="0" u="none" dirty="0">
                <a:solidFill>
                  <a:srgbClr val="475569"/>
                </a:solidFill>
                <a:latin typeface="Pretendard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Pretendard"/>
              </a:rPr>
              <a:t>구역이</a:t>
            </a:r>
            <a:r>
              <a:rPr sz="1125" b="0" i="0" u="none" dirty="0">
                <a:solidFill>
                  <a:srgbClr val="475569"/>
                </a:solidFill>
                <a:latin typeface="Pretendard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Pretendard"/>
              </a:rPr>
              <a:t>발생하여</a:t>
            </a:r>
            <a:r>
              <a:rPr sz="1125" b="0" i="0" u="none" dirty="0">
                <a:solidFill>
                  <a:srgbClr val="475569"/>
                </a:solidFill>
                <a:latin typeface="Pretendard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Pretendard"/>
              </a:rPr>
              <a:t>공역</a:t>
            </a:r>
            <a:r>
              <a:rPr sz="1125" b="0" i="0" u="none" dirty="0">
                <a:solidFill>
                  <a:srgbClr val="475569"/>
                </a:solidFill>
                <a:latin typeface="Pretendard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Pretendard"/>
              </a:rPr>
              <a:t>혼잡</a:t>
            </a:r>
            <a:r>
              <a:rPr sz="1125" b="0" i="0" u="none" dirty="0">
                <a:solidFill>
                  <a:srgbClr val="475569"/>
                </a:solidFill>
                <a:latin typeface="Pretendard"/>
              </a:rPr>
              <a:t> 및 </a:t>
            </a:r>
            <a:r>
              <a:rPr sz="1125" b="0" i="0" u="none" dirty="0" err="1">
                <a:solidFill>
                  <a:srgbClr val="475569"/>
                </a:solidFill>
                <a:latin typeface="Pretendard"/>
              </a:rPr>
              <a:t>충돌</a:t>
            </a:r>
            <a:r>
              <a:rPr sz="1125" b="0" i="0" u="none" dirty="0">
                <a:solidFill>
                  <a:srgbClr val="475569"/>
                </a:solidFill>
                <a:latin typeface="Pretendard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Pretendard"/>
              </a:rPr>
              <a:t>위험성이</a:t>
            </a:r>
            <a:r>
              <a:rPr sz="1125" b="0" i="0" u="none" dirty="0">
                <a:solidFill>
                  <a:srgbClr val="475569"/>
                </a:solidFill>
                <a:latin typeface="Pretendard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Pretendard"/>
              </a:rPr>
              <a:t>매우</a:t>
            </a:r>
            <a:r>
              <a:rPr sz="1125" b="0" i="0" u="none" dirty="0">
                <a:solidFill>
                  <a:srgbClr val="475569"/>
                </a:solidFill>
                <a:latin typeface="Pretendard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Pretendard"/>
              </a:rPr>
              <a:t>높은</a:t>
            </a:r>
            <a:r>
              <a:rPr sz="1125" b="0" i="0" u="none" dirty="0">
                <a:solidFill>
                  <a:srgbClr val="475569"/>
                </a:solidFill>
                <a:latin typeface="Pretendard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Pretendard"/>
              </a:rPr>
              <a:t>상태였습니다</a:t>
            </a:r>
            <a:r>
              <a:rPr sz="1125" b="0" i="0" u="none" dirty="0">
                <a:solidFill>
                  <a:srgbClr val="475569"/>
                </a:solidFill>
                <a:latin typeface="Pretendard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7225" y="4049017"/>
            <a:ext cx="7033431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retendard"/>
              </a:rPr>
              <a:t>개선 목표 설정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050" y="4344292"/>
            <a:ext cx="4762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retendard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675" y="4353817"/>
            <a:ext cx="3574697" cy="161583"/>
          </a:xfrm>
          <a:prstGeom prst="rect">
            <a:avLst/>
          </a:prstGeom>
          <a:noFill/>
        </p:spPr>
        <p:txBody>
          <a:bodyPr wrap="none" lIns="47625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475569"/>
                </a:solidFill>
                <a:latin typeface="Pretendard"/>
              </a:rPr>
              <a:t>OLS </a:t>
            </a:r>
            <a:r>
              <a:rPr sz="1050" b="1" i="0" u="none" dirty="0" err="1">
                <a:solidFill>
                  <a:srgbClr val="475569"/>
                </a:solidFill>
                <a:latin typeface="Pretendard"/>
              </a:rPr>
              <a:t>진입표면</a:t>
            </a:r>
            <a:r>
              <a:rPr sz="1050" b="1" i="0" u="none" dirty="0">
                <a:solidFill>
                  <a:srgbClr val="475569"/>
                </a:solidFill>
                <a:latin typeface="Pretendard"/>
              </a:rPr>
              <a:t> </a:t>
            </a:r>
            <a:r>
              <a:rPr sz="1050" b="1" i="0" u="none" dirty="0" err="1">
                <a:solidFill>
                  <a:srgbClr val="475569"/>
                </a:solidFill>
                <a:latin typeface="Pretendard"/>
              </a:rPr>
              <a:t>분리</a:t>
            </a:r>
            <a:r>
              <a:rPr sz="1050" b="1" i="0" u="none" dirty="0">
                <a:solidFill>
                  <a:srgbClr val="475569"/>
                </a:solidFill>
                <a:latin typeface="Pretendard"/>
              </a:rPr>
              <a:t>:</a:t>
            </a:r>
            <a:r>
              <a:rPr sz="1050" b="0" i="0" u="none" dirty="0">
                <a:solidFill>
                  <a:srgbClr val="475569"/>
                </a:solidFill>
                <a:latin typeface="Pretendard"/>
              </a:rPr>
              <a:t> </a:t>
            </a:r>
            <a:r>
              <a:rPr sz="1050" b="0" i="0" u="none" dirty="0" err="1">
                <a:solidFill>
                  <a:srgbClr val="475569"/>
                </a:solidFill>
                <a:latin typeface="Pretendard"/>
              </a:rPr>
              <a:t>이륙</a:t>
            </a:r>
            <a:r>
              <a:rPr sz="1050" b="0" i="0" u="none" dirty="0">
                <a:solidFill>
                  <a:srgbClr val="475569"/>
                </a:solidFill>
                <a:latin typeface="Pretendard"/>
              </a:rPr>
              <a:t> 및 </a:t>
            </a:r>
            <a:r>
              <a:rPr sz="1050" b="0" i="0" u="none" dirty="0" err="1">
                <a:solidFill>
                  <a:srgbClr val="475569"/>
                </a:solidFill>
                <a:latin typeface="Pretendard"/>
              </a:rPr>
              <a:t>착륙</a:t>
            </a:r>
            <a:r>
              <a:rPr lang="en-US" sz="1050" b="0" i="0" u="none" dirty="0">
                <a:solidFill>
                  <a:srgbClr val="47556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1050" b="0" i="0" u="none" dirty="0">
                <a:solidFill>
                  <a:srgbClr val="47556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진입</a:t>
            </a:r>
            <a:r>
              <a:rPr lang="en-US" altLang="ko-KR" sz="1050" b="0" i="0" u="none" dirty="0">
                <a:solidFill>
                  <a:srgbClr val="47556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r>
              <a:rPr sz="1050" b="0" i="0" u="none" dirty="0">
                <a:solidFill>
                  <a:srgbClr val="475569"/>
                </a:solidFill>
                <a:latin typeface="Pretendard"/>
              </a:rPr>
              <a:t> </a:t>
            </a:r>
            <a:r>
              <a:rPr sz="1050" b="0" i="0" u="none" dirty="0" err="1">
                <a:solidFill>
                  <a:srgbClr val="475569"/>
                </a:solidFill>
                <a:latin typeface="Pretendard"/>
              </a:rPr>
              <a:t>표면을</a:t>
            </a:r>
            <a:r>
              <a:rPr sz="1050" b="0" i="0" u="none" dirty="0">
                <a:solidFill>
                  <a:srgbClr val="475569"/>
                </a:solidFill>
                <a:latin typeface="Pretendard"/>
              </a:rPr>
              <a:t> 총 2개로 </a:t>
            </a:r>
            <a:r>
              <a:rPr sz="1050" b="0" i="0" u="none" dirty="0" err="1">
                <a:solidFill>
                  <a:srgbClr val="475569"/>
                </a:solidFill>
                <a:latin typeface="Pretendard"/>
              </a:rPr>
              <a:t>별도</a:t>
            </a:r>
            <a:r>
              <a:rPr sz="1050" b="0" i="0" u="none" dirty="0">
                <a:solidFill>
                  <a:srgbClr val="475569"/>
                </a:solidFill>
                <a:latin typeface="Pretendard"/>
              </a:rPr>
              <a:t> </a:t>
            </a:r>
            <a:r>
              <a:rPr sz="1050" b="0" i="0" u="none" dirty="0" err="1">
                <a:solidFill>
                  <a:srgbClr val="475569"/>
                </a:solidFill>
                <a:latin typeface="Pretendard"/>
              </a:rPr>
              <a:t>설정</a:t>
            </a:r>
            <a:endParaRPr sz="1050" b="0" i="0" u="none" dirty="0">
              <a:solidFill>
                <a:srgbClr val="475569"/>
              </a:solidFill>
              <a:latin typeface="Pretendard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81050" y="4591942"/>
            <a:ext cx="4762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retendard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675" y="4601467"/>
            <a:ext cx="2983189" cy="161583"/>
          </a:xfrm>
          <a:prstGeom prst="rect">
            <a:avLst/>
          </a:prstGeom>
          <a:noFill/>
        </p:spPr>
        <p:txBody>
          <a:bodyPr wrap="none" lIns="47625" tIns="0" rIns="0" bIns="0" anchor="t">
            <a:spAutoFit/>
          </a:bodyPr>
          <a:lstStyle/>
          <a:p>
            <a:pPr algn="l"/>
            <a:r>
              <a:rPr sz="1050" b="1" i="0" u="none" dirty="0" err="1">
                <a:solidFill>
                  <a:srgbClr val="475569"/>
                </a:solidFill>
                <a:latin typeface="Pretendard"/>
              </a:rPr>
              <a:t>각도</a:t>
            </a:r>
            <a:r>
              <a:rPr sz="1050" b="1" i="0" u="none" dirty="0">
                <a:solidFill>
                  <a:srgbClr val="475569"/>
                </a:solidFill>
                <a:latin typeface="Pretendard"/>
              </a:rPr>
              <a:t> </a:t>
            </a:r>
            <a:r>
              <a:rPr sz="1050" b="1" i="0" u="none" dirty="0" err="1">
                <a:solidFill>
                  <a:srgbClr val="475569"/>
                </a:solidFill>
                <a:latin typeface="Pretendard"/>
              </a:rPr>
              <a:t>확보</a:t>
            </a:r>
            <a:r>
              <a:rPr sz="1050" b="1" i="0" u="none" dirty="0">
                <a:solidFill>
                  <a:srgbClr val="475569"/>
                </a:solidFill>
                <a:latin typeface="Pretendard"/>
              </a:rPr>
              <a:t>:</a:t>
            </a:r>
            <a:r>
              <a:rPr sz="1050" b="0" i="0" u="none" dirty="0">
                <a:solidFill>
                  <a:srgbClr val="475569"/>
                </a:solidFill>
                <a:latin typeface="Pretendard"/>
              </a:rPr>
              <a:t> </a:t>
            </a:r>
            <a:r>
              <a:rPr sz="1050" b="0" i="0" u="none" dirty="0" err="1">
                <a:solidFill>
                  <a:srgbClr val="475569"/>
                </a:solidFill>
                <a:latin typeface="Pretendard"/>
              </a:rPr>
              <a:t>진입표면</a:t>
            </a:r>
            <a:r>
              <a:rPr sz="1050" b="0" i="0" u="none" dirty="0">
                <a:solidFill>
                  <a:srgbClr val="475569"/>
                </a:solidFill>
                <a:latin typeface="Pretendard"/>
              </a:rPr>
              <a:t> 간 </a:t>
            </a:r>
            <a:r>
              <a:rPr sz="1050" b="0" i="0" u="none" dirty="0" err="1">
                <a:solidFill>
                  <a:srgbClr val="475569"/>
                </a:solidFill>
                <a:latin typeface="Pretendard"/>
              </a:rPr>
              <a:t>각도를</a:t>
            </a:r>
            <a:r>
              <a:rPr sz="1050" b="0" i="0" u="none" dirty="0">
                <a:solidFill>
                  <a:srgbClr val="475569"/>
                </a:solidFill>
                <a:latin typeface="Pretendard"/>
              </a:rPr>
              <a:t> </a:t>
            </a:r>
            <a:r>
              <a:rPr sz="1050" b="1" i="0" u="none" dirty="0" err="1">
                <a:solidFill>
                  <a:srgbClr val="FF0000"/>
                </a:solidFill>
                <a:latin typeface="Pretendard"/>
              </a:rPr>
              <a:t>최대</a:t>
            </a:r>
            <a:r>
              <a:rPr sz="1050" b="1" i="0" u="none" dirty="0">
                <a:solidFill>
                  <a:srgbClr val="FF0000"/>
                </a:solidFill>
                <a:latin typeface="Pretendard"/>
              </a:rPr>
              <a:t> 130° </a:t>
            </a:r>
            <a:r>
              <a:rPr sz="1050" b="1" i="0" u="none" dirty="0" err="1">
                <a:solidFill>
                  <a:srgbClr val="FF0000"/>
                </a:solidFill>
                <a:latin typeface="Pretendard"/>
              </a:rPr>
              <a:t>이상</a:t>
            </a:r>
            <a:r>
              <a:rPr sz="1050" b="0" i="0" u="none" dirty="0" err="1">
                <a:solidFill>
                  <a:srgbClr val="475569"/>
                </a:solidFill>
                <a:latin typeface="Pretendard"/>
              </a:rPr>
              <a:t>으로</a:t>
            </a:r>
            <a:r>
              <a:rPr sz="1050" b="0" i="0" u="none" dirty="0">
                <a:solidFill>
                  <a:srgbClr val="475569"/>
                </a:solidFill>
                <a:latin typeface="Pretendard"/>
              </a:rPr>
              <a:t> </a:t>
            </a:r>
            <a:r>
              <a:rPr sz="1050" b="0" i="0" u="none" dirty="0" err="1">
                <a:solidFill>
                  <a:srgbClr val="475569"/>
                </a:solidFill>
                <a:latin typeface="Pretendard"/>
              </a:rPr>
              <a:t>설정</a:t>
            </a:r>
            <a:endParaRPr sz="1050" b="0" i="0" u="none" dirty="0">
              <a:solidFill>
                <a:srgbClr val="475569"/>
              </a:solidFill>
              <a:latin typeface="Pretendard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81050" y="4839592"/>
            <a:ext cx="4762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retendard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675" y="4849117"/>
            <a:ext cx="6819118" cy="171450"/>
          </a:xfrm>
          <a:prstGeom prst="rect">
            <a:avLst/>
          </a:prstGeom>
          <a:noFill/>
        </p:spPr>
        <p:txBody>
          <a:bodyPr wrap="none" lIns="47625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475569"/>
                </a:solidFill>
                <a:latin typeface="Pretendard"/>
              </a:rPr>
              <a:t>중첩 최소화:</a:t>
            </a:r>
            <a:r>
              <a:rPr sz="1050" b="0" i="0" u="none">
                <a:solidFill>
                  <a:srgbClr val="475569"/>
                </a:solidFill>
                <a:latin typeface="Pretendard"/>
              </a:rPr>
              <a:t> 각 OLS 별 중첩 영역을 최소화하는 배치 알고리즘 적용</a:t>
            </a: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396C3413-CEF2-05D4-7B40-D11BEF34B4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0516" y="1988759"/>
            <a:ext cx="4243104" cy="356806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608617" y="624780"/>
            <a:ext cx="1126182" cy="247650"/>
          </a:xfrm>
          <a:prstGeom prst="roundRect">
            <a:avLst>
              <a:gd name="adj" fmla="val 15384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1139130"/>
            <a:ext cx="5524500" cy="5505450"/>
          </a:xfrm>
          <a:prstGeom prst="roundRect">
            <a:avLst>
              <a:gd name="adj" fmla="val 207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0300" y="1139130"/>
            <a:ext cx="5524500" cy="5505450"/>
          </a:xfrm>
          <a:prstGeom prst="roundRect">
            <a:avLst>
              <a:gd name="adj" fmla="val 207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7225" y="2272605"/>
            <a:ext cx="51244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10325" y="1758255"/>
            <a:ext cx="51244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10325" y="2682180"/>
            <a:ext cx="1338411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48736" y="2682180"/>
            <a:ext cx="3786038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10325" y="3067942"/>
            <a:ext cx="133841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48736" y="3067942"/>
            <a:ext cx="378603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10325" y="3439417"/>
            <a:ext cx="133841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748736" y="3439417"/>
            <a:ext cx="378603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10325" y="3810892"/>
            <a:ext cx="133841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748736" y="3810892"/>
            <a:ext cx="378603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" y="1367730"/>
            <a:ext cx="133498" cy="1714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0325" y="1367730"/>
            <a:ext cx="133498" cy="171450"/>
          </a:xfrm>
          <a:prstGeom prst="rect">
            <a:avLst/>
          </a:prstGeom>
        </p:spPr>
      </p:pic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410325" y="2329755"/>
          <a:ext cx="5124449" cy="1495425"/>
        </p:xfrm>
        <a:graphic>
          <a:graphicData uri="http://schemas.openxmlformats.org/drawingml/2006/table">
            <a:tbl>
              <a:tblPr/>
              <a:tblGrid>
                <a:gridCol w="13384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860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3856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1E293B"/>
                          </a:solidFill>
                          <a:latin typeface="Pretendard"/>
                        </a:rPr>
                        <a:t>여유고 상태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1E293B"/>
                          </a:solidFill>
                          <a:latin typeface="Pretendard"/>
                        </a:rPr>
                        <a:t>의미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856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16A34A"/>
                          </a:solidFill>
                          <a:latin typeface="Pretendard"/>
                        </a:rPr>
                        <a:t>양수 (+)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retendard"/>
                        </a:rPr>
                        <a:t>건물 상단이 OLS보다 아래에 있음 (안전)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856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D97706"/>
                          </a:solidFill>
                          <a:latin typeface="Pretendard"/>
                        </a:rPr>
                        <a:t>0에 가까움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retendard"/>
                        </a:rPr>
                        <a:t>건물 상단과 OLS가 접촉함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857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DC2626"/>
                          </a:solidFill>
                          <a:latin typeface="Pretendard"/>
                        </a:rPr>
                        <a:t>음수 (-)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retendard"/>
                        </a:rPr>
                        <a:t>건물이 OLS를 침범함 (예: -5m = 5m 침범)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10703867" y="662880"/>
            <a:ext cx="1030932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Pretendard"/>
              </a:rPr>
              <a:t>장애물 평가 기준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42900"/>
            <a:ext cx="6426956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retendard"/>
              </a:rPr>
              <a:t>STEP 03. EVALUATION METHODOLOGY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52450"/>
            <a:ext cx="6748304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1" i="0" u="none">
                <a:solidFill>
                  <a:srgbClr val="0F172A"/>
                </a:solidFill>
                <a:latin typeface="Pretendard"/>
              </a:rPr>
              <a:t>후보 OLS 평가 및 건물 높이 침범 검증 방법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7225" y="1339155"/>
            <a:ext cx="6405562" cy="228600"/>
          </a:xfrm>
          <a:prstGeom prst="rect">
            <a:avLst/>
          </a:prstGeom>
          <a:noFill/>
        </p:spPr>
        <p:txBody>
          <a:bodyPr wrap="none" lIns="209698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retendard"/>
              </a:rPr>
              <a:t>건물 상단 높이 및 교집합 평가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7225" y="1758255"/>
            <a:ext cx="52197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Pretendard"/>
              </a:rPr>
              <a:t>OLS와 평면상 교차하는 건물을 식별하고, 해당 위치의 </a:t>
            </a:r>
            <a:r>
              <a:rPr sz="1050" b="1" i="0" u="none">
                <a:solidFill>
                  <a:srgbClr val="475569"/>
                </a:solidFill>
                <a:latin typeface="Pretendard"/>
              </a:rPr>
              <a:t>OLS 높이와 건물 상단 높이</a:t>
            </a:r>
            <a:r>
              <a:rPr sz="1050" b="0" i="0" u="none">
                <a:solidFill>
                  <a:srgbClr val="475569"/>
                </a:solidFill>
                <a:latin typeface="Pretendard"/>
              </a:rPr>
              <a:t>를 비교합니다.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1525" y="2386905"/>
            <a:ext cx="49911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 dirty="0" err="1">
                <a:solidFill>
                  <a:srgbClr val="1E293B"/>
                </a:solidFill>
                <a:latin typeface="JetBrains Mono"/>
              </a:rPr>
              <a:t>건물</a:t>
            </a:r>
            <a:r>
              <a:rPr sz="975" b="0" i="0" u="none" dirty="0">
                <a:solidFill>
                  <a:srgbClr val="1E293B"/>
                </a:solidFill>
                <a:latin typeface="JetBrains Mono"/>
              </a:rPr>
              <a:t> </a:t>
            </a:r>
            <a:r>
              <a:rPr sz="975" b="0" i="0" u="none" dirty="0" err="1">
                <a:solidFill>
                  <a:srgbClr val="1E293B"/>
                </a:solidFill>
                <a:latin typeface="JetBrains Mono"/>
              </a:rPr>
              <a:t>상단</a:t>
            </a:r>
            <a:r>
              <a:rPr sz="975" b="0" i="0" u="none" dirty="0">
                <a:solidFill>
                  <a:srgbClr val="1E293B"/>
                </a:solidFill>
                <a:latin typeface="JetBrains Mono"/>
              </a:rPr>
              <a:t> </a:t>
            </a:r>
            <a:r>
              <a:rPr sz="975" b="0" i="0" u="none" dirty="0" err="1">
                <a:solidFill>
                  <a:srgbClr val="1E293B"/>
                </a:solidFill>
                <a:latin typeface="JetBrains Mono"/>
              </a:rPr>
              <a:t>높이</a:t>
            </a:r>
            <a:r>
              <a:rPr sz="975" b="0" i="0" u="none" dirty="0">
                <a:solidFill>
                  <a:srgbClr val="1E293B"/>
                </a:solidFill>
                <a:latin typeface="JetBrains Mono"/>
              </a:rPr>
              <a:t> = DEM </a:t>
            </a:r>
            <a:r>
              <a:rPr sz="975" b="0" i="0" u="none" dirty="0" err="1">
                <a:solidFill>
                  <a:srgbClr val="1E293B"/>
                </a:solidFill>
                <a:latin typeface="JetBrains Mono"/>
              </a:rPr>
              <a:t>지표고</a:t>
            </a:r>
            <a:r>
              <a:rPr sz="975" b="0" i="0" u="none" dirty="0">
                <a:solidFill>
                  <a:srgbClr val="1E293B"/>
                </a:solidFill>
                <a:latin typeface="JetBrains Mono"/>
              </a:rPr>
              <a:t> + </a:t>
            </a:r>
            <a:r>
              <a:rPr sz="975" b="0" i="0" u="none" dirty="0" err="1">
                <a:solidFill>
                  <a:srgbClr val="1E293B"/>
                </a:solidFill>
                <a:latin typeface="JetBrains Mono"/>
              </a:rPr>
              <a:t>건물</a:t>
            </a:r>
            <a:r>
              <a:rPr sz="975" b="0" i="0" u="none" dirty="0">
                <a:solidFill>
                  <a:srgbClr val="1E293B"/>
                </a:solidFill>
                <a:latin typeface="JetBrains Mono"/>
              </a:rPr>
              <a:t> </a:t>
            </a:r>
            <a:r>
              <a:rPr sz="975" b="0" i="0" u="none" dirty="0" err="1">
                <a:solidFill>
                  <a:srgbClr val="1E293B"/>
                </a:solidFill>
                <a:latin typeface="JetBrains Mono"/>
              </a:rPr>
              <a:t>높이</a:t>
            </a:r>
            <a:r>
              <a:rPr sz="975" b="0" i="0" u="none" dirty="0">
                <a:solidFill>
                  <a:srgbClr val="1E293B"/>
                </a:solidFill>
                <a:latin typeface="JetBrains Mono"/>
              </a:rPr>
              <a:t>(</a:t>
            </a:r>
            <a:r>
              <a:rPr sz="975" b="0" i="0" u="none" dirty="0" err="1">
                <a:solidFill>
                  <a:srgbClr val="1E293B"/>
                </a:solidFill>
                <a:latin typeface="JetBrains Mono"/>
              </a:rPr>
              <a:t>필드</a:t>
            </a:r>
            <a:r>
              <a:rPr sz="975" b="0" i="0" u="none" dirty="0">
                <a:solidFill>
                  <a:srgbClr val="1E293B"/>
                </a:solidFill>
                <a:latin typeface="JetBrains Mono"/>
              </a:rPr>
              <a:t> A16)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0325" y="1339155"/>
            <a:ext cx="5781675" cy="228600"/>
          </a:xfrm>
          <a:prstGeom prst="rect">
            <a:avLst/>
          </a:prstGeom>
          <a:noFill/>
        </p:spPr>
        <p:txBody>
          <a:bodyPr wrap="none" lIns="209698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retendard"/>
              </a:rPr>
              <a:t>여유고 판정 및 수치 공차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4625" y="1872555"/>
            <a:ext cx="49911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E293B"/>
                </a:solidFill>
                <a:latin typeface="JetBrains Mono"/>
              </a:rPr>
              <a:t>여유고 = 교집합 최저 OLS 높이 - 건물 상단 높이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0325" y="3977580"/>
            <a:ext cx="578167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Pretendard"/>
              </a:rPr>
              <a:t>* 침범과 접촉 구분 시 </a:t>
            </a:r>
            <a:r>
              <a:rPr sz="900" b="1" i="0" u="none">
                <a:solidFill>
                  <a:srgbClr val="64748B"/>
                </a:solidFill>
                <a:latin typeface="Pretendard"/>
              </a:rPr>
              <a:t>0.000001m</a:t>
            </a:r>
            <a:r>
              <a:rPr sz="900" b="0" i="0" u="none">
                <a:solidFill>
                  <a:srgbClr val="64748B"/>
                </a:solidFill>
                <a:latin typeface="Pretendard"/>
              </a:rPr>
              <a:t>의 수치 공차를 적용하여 계산 오차를 보정합니다.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2000" y="2796480"/>
            <a:ext cx="4762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retendard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625" y="2806005"/>
            <a:ext cx="6215062" cy="171450"/>
          </a:xfrm>
          <a:prstGeom prst="rect">
            <a:avLst/>
          </a:prstGeom>
          <a:noFill/>
        </p:spPr>
        <p:txBody>
          <a:bodyPr wrap="none" lIns="47625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retendard"/>
              </a:rPr>
              <a:t>높이 결측 또는 DEM 미제공 시 높이 알 수 없는 건물로 처리 (0m 임의 대입 금지)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2000" y="3025080"/>
            <a:ext cx="4762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retendard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625" y="3034605"/>
            <a:ext cx="5067300" cy="342900"/>
          </a:xfrm>
          <a:prstGeom prst="rect">
            <a:avLst/>
          </a:prstGeom>
          <a:noFill/>
        </p:spPr>
        <p:txBody>
          <a:bodyPr wrap="square" lIns="47625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retendard"/>
              </a:rPr>
              <a:t>건물 중심점만 비교하지 않고, </a:t>
            </a:r>
            <a:r>
              <a:rPr sz="975" b="1" i="0" u="none">
                <a:solidFill>
                  <a:srgbClr val="64748B"/>
                </a:solidFill>
                <a:latin typeface="Pretendard"/>
              </a:rPr>
              <a:t>교집합 영역의 모든 꼭짓점</a:t>
            </a:r>
            <a:r>
              <a:rPr sz="975" b="0" i="0" u="none">
                <a:solidFill>
                  <a:srgbClr val="64748B"/>
                </a:solidFill>
                <a:latin typeface="Pretendard"/>
              </a:rPr>
              <a:t>에서 OLS 높이를 계산하여 가장 낮은 OLS 높이와 비교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725150" y="653355"/>
            <a:ext cx="1009650" cy="219075"/>
          </a:xfrm>
          <a:prstGeom prst="roundRect">
            <a:avLst>
              <a:gd name="adj" fmla="val 17391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1139130"/>
            <a:ext cx="5788521" cy="5505450"/>
          </a:xfrm>
          <a:prstGeom prst="roundRect">
            <a:avLst>
              <a:gd name="adj" fmla="val 207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36221" y="1139130"/>
            <a:ext cx="5298578" cy="5505450"/>
          </a:xfrm>
          <a:prstGeom prst="roundRect">
            <a:avLst>
              <a:gd name="adj" fmla="val 215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7225" y="6120705"/>
            <a:ext cx="5388471" cy="323850"/>
          </a:xfrm>
          <a:prstGeom prst="roundRect">
            <a:avLst>
              <a:gd name="adj" fmla="val 17647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636246" y="1986855"/>
            <a:ext cx="4898528" cy="771525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7225" y="1967805"/>
            <a:ext cx="930622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587847" y="1967805"/>
            <a:ext cx="3124944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712791" y="1967805"/>
            <a:ext cx="1332904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7225" y="2334517"/>
            <a:ext cx="93062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587847" y="2334517"/>
            <a:ext cx="312494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712791" y="2334517"/>
            <a:ext cx="133290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7225" y="2686942"/>
            <a:ext cx="93062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587847" y="2686942"/>
            <a:ext cx="312494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712791" y="2686942"/>
            <a:ext cx="133290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57225" y="3039367"/>
            <a:ext cx="93062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587847" y="3039367"/>
            <a:ext cx="312494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712791" y="3039367"/>
            <a:ext cx="133290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57225" y="1634430"/>
          <a:ext cx="5388470" cy="1419225"/>
        </p:xfrm>
        <a:graphic>
          <a:graphicData uri="http://schemas.openxmlformats.org/drawingml/2006/table">
            <a:tbl>
              <a:tblPr/>
              <a:tblGrid>
                <a:gridCol w="9306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249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29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4806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1E293B"/>
                          </a:solidFill>
                          <a:latin typeface="Pretendard"/>
                        </a:rPr>
                        <a:t>판정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1E293B"/>
                          </a:solidFill>
                          <a:latin typeface="Pretendard"/>
                        </a:rPr>
                        <a:t>조건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1E293B"/>
                          </a:solidFill>
                          <a:latin typeface="Pretendard"/>
                        </a:rPr>
                        <a:t>의미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806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16A34A"/>
                          </a:solidFill>
                          <a:latin typeface="Pretendard"/>
                        </a:rPr>
                        <a:t>PASS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retendard"/>
                        </a:rPr>
                        <a:t>침범/접촉이 없고 결측 건물 없음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retendard"/>
                        </a:rPr>
                        <a:t>최종 통과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806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D97706"/>
                          </a:solidFill>
                          <a:latin typeface="Pretendard"/>
                        </a:rPr>
                        <a:t>REVIEW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retendard"/>
                        </a:rPr>
                        <a:t>침범은 없으나 접촉 또는 높이 미상 건물 존재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retendard"/>
                        </a:rPr>
                        <a:t>추가 검토 필요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807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DC2626"/>
                          </a:solidFill>
                          <a:latin typeface="Pretendard"/>
                        </a:rPr>
                        <a:t>FAIL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retendard"/>
                        </a:rPr>
                        <a:t>높이 확인 건물 중 하나라도 표면 침범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retendard"/>
                        </a:rPr>
                        <a:t>침범 확인 (탈락)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10820400" y="691455"/>
            <a:ext cx="9144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Pretendard"/>
              </a:rPr>
              <a:t>판정 및 조합 규칙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42900"/>
            <a:ext cx="56673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retendard"/>
              </a:rPr>
              <a:t>STEP 04. OLS CLASSIFICATION &amp; COMBINATION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52450"/>
            <a:ext cx="5950743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1" i="0" u="none">
                <a:solidFill>
                  <a:srgbClr val="0F172A"/>
                </a:solidFill>
                <a:latin typeface="Pretendard"/>
              </a:rPr>
              <a:t>후보 OLS 판정 분류 및 135° 각도 조건 조합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2475" y="6215955"/>
            <a:ext cx="5293221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475569"/>
                </a:solidFill>
                <a:latin typeface="Pretendard"/>
              </a:rPr>
              <a:t>* 여러 조건 발생 시 FAIL 우선 판정 (높이 미상 건물이 있어도 침범 발생 시 FAIL)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36246" y="1339155"/>
            <a:ext cx="555575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retendard"/>
              </a:rPr>
              <a:t>2. 건물별 OLS 조합 생성 (각도 ≥ 135°)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36246" y="1729680"/>
            <a:ext cx="555575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Pretendard"/>
              </a:rPr>
              <a:t>건물별 최대 2개 OLS 선정 시 두 방향 사이의 각도 차이가 </a:t>
            </a:r>
            <a:r>
              <a:rPr sz="975" b="1" i="0" u="none">
                <a:solidFill>
                  <a:srgbClr val="475569"/>
                </a:solidFill>
                <a:latin typeface="Pretendard"/>
              </a:rPr>
              <a:t>135° 이상</a:t>
            </a:r>
            <a:r>
              <a:rPr sz="975" b="0" i="0" u="none">
                <a:solidFill>
                  <a:srgbClr val="475569"/>
                </a:solidFill>
                <a:latin typeface="Pretendard"/>
              </a:rPr>
              <a:t>이어야 합니다.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36246" y="2872680"/>
            <a:ext cx="555575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34155"/>
                </a:solidFill>
                <a:latin typeface="Pretendard"/>
              </a:rPr>
              <a:t>우선순위 조합:</a:t>
            </a:r>
            <a:r>
              <a:rPr sz="975" b="0" i="0" u="none">
                <a:solidFill>
                  <a:srgbClr val="334155"/>
                </a:solidFill>
                <a:latin typeface="Pretendard"/>
              </a:rPr>
              <a:t> PASS+PASS &gt; PASS+REVIEW &gt; REVIEW+REVIEW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36246" y="3129855"/>
            <a:ext cx="5555753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Pretendard"/>
              </a:rPr>
              <a:t>* 단일 확정 없이 135°를 만족하는 모든 조합을 비교하여 최적의 두 개 조합을 탐색합니다.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7225" y="1339155"/>
            <a:ext cx="673558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retendard"/>
              </a:rPr>
              <a:t>1. OLS 후보 판정 분류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41021" y="2091630"/>
            <a:ext cx="1440656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34155"/>
                </a:solidFill>
                <a:latin typeface="Pretendard"/>
              </a:rPr>
              <a:t>0° &amp; 180° (차이 180°)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20450" y="2091630"/>
            <a:ext cx="49530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6A34A"/>
                </a:solidFill>
                <a:latin typeface="Pretendard"/>
              </a:rPr>
              <a:t>가능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41021" y="2320230"/>
            <a:ext cx="1535906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34155"/>
                </a:solidFill>
                <a:latin typeface="Pretendard"/>
              </a:rPr>
              <a:t>30° &amp; 165° (차이 135°)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20450" y="2320230"/>
            <a:ext cx="49530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6A34A"/>
                </a:solidFill>
                <a:latin typeface="Pretendard"/>
              </a:rPr>
              <a:t>가능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41021" y="2510730"/>
            <a:ext cx="1464468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34155"/>
                </a:solidFill>
                <a:latin typeface="Pretendard"/>
              </a:rPr>
              <a:t>10° &amp; 350° (차이 20°)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15675" y="2510730"/>
            <a:ext cx="60007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DC2626"/>
                </a:solidFill>
                <a:latin typeface="Pretendard"/>
              </a:rPr>
              <a:t>불가능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642996" y="624780"/>
            <a:ext cx="1091803" cy="247650"/>
          </a:xfrm>
          <a:prstGeom prst="roundRect">
            <a:avLst>
              <a:gd name="adj" fmla="val 15384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1139130"/>
            <a:ext cx="5298578" cy="5505450"/>
          </a:xfrm>
          <a:prstGeom prst="roundRect">
            <a:avLst>
              <a:gd name="adj" fmla="val 215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946278" y="1139130"/>
            <a:ext cx="5788521" cy="5505450"/>
          </a:xfrm>
          <a:prstGeom prst="roundRect">
            <a:avLst>
              <a:gd name="adj" fmla="val 207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7225" y="1758255"/>
            <a:ext cx="4898528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146303" y="2872680"/>
            <a:ext cx="1617464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63767" y="2872680"/>
            <a:ext cx="3771007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146303" y="3258442"/>
            <a:ext cx="161746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63767" y="3258442"/>
            <a:ext cx="37710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46303" y="3629917"/>
            <a:ext cx="161746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763767" y="3629917"/>
            <a:ext cx="37710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46303" y="4001392"/>
            <a:ext cx="161746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763767" y="4001392"/>
            <a:ext cx="37710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146303" y="2520255"/>
          <a:ext cx="5388471" cy="1495425"/>
        </p:xfrm>
        <a:graphic>
          <a:graphicData uri="http://schemas.openxmlformats.org/drawingml/2006/table">
            <a:tbl>
              <a:tblPr/>
              <a:tblGrid>
                <a:gridCol w="16174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10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3856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1E293B"/>
                          </a:solidFill>
                          <a:latin typeface="Pretendard"/>
                        </a:rPr>
                        <a:t>항목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1E293B"/>
                          </a:solidFill>
                          <a:latin typeface="Pretendard"/>
                        </a:rPr>
                        <a:t>기본 설정값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856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retendard"/>
                        </a:rPr>
                        <a:t>시작 배치 수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Pretendard"/>
                        </a:rPr>
                        <a:t>총 16개</a:t>
                      </a:r>
                      <a:r>
                        <a:rPr sz="1050" b="0" i="0" u="none">
                          <a:solidFill>
                            <a:srgbClr val="334155"/>
                          </a:solidFill>
                          <a:latin typeface="Pretendard"/>
                        </a:rPr>
                        <a:t> (독립 1개 + 무작위 15개)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856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retendard"/>
                        </a:rPr>
                        <a:t>건물 순회 한도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Pretendard"/>
                        </a:rPr>
                        <a:t>각 시작 배치당 60회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857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retendard"/>
                        </a:rPr>
                        <a:t>최종 선택 기준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retendard"/>
                        </a:rPr>
                        <a:t>탐색 중 중첩 면적 합이 가장 작았던 배치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10738246" y="662880"/>
            <a:ext cx="996553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Pretendard"/>
              </a:rPr>
              <a:t>최적화 알고리즘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42900"/>
            <a:ext cx="80756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retendard"/>
              </a:rPr>
              <a:t>STEP 05. OPTIMIZATION ALGORITHM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52450"/>
            <a:ext cx="8479380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1" i="0" u="none">
                <a:solidFill>
                  <a:srgbClr val="0F172A"/>
                </a:solidFill>
                <a:latin typeface="Pretendard"/>
              </a:rPr>
              <a:t>좌표 하강법(Coordinate Descent)을 통한 중첩 최소화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7225" y="1339155"/>
            <a:ext cx="6123161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retendard"/>
              </a:rPr>
              <a:t>목적함수 및 최소화 기준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1525" y="1872555"/>
            <a:ext cx="4765178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E293B"/>
                </a:solidFill>
                <a:latin typeface="Pretendard"/>
              </a:rPr>
              <a:t>전체 중첩량 = 서로 다른 건물에 속한 선정 OLS들의 쌍별 XY 교집합 면적 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46303" y="1339155"/>
            <a:ext cx="6045696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retendard"/>
              </a:rPr>
              <a:t>반복 최적화 절차 및 파라미터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2282130"/>
            <a:ext cx="4762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Pretendard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625" y="2291655"/>
            <a:ext cx="5932661" cy="171450"/>
          </a:xfrm>
          <a:prstGeom prst="rect">
            <a:avLst/>
          </a:prstGeom>
          <a:noFill/>
        </p:spPr>
        <p:txBody>
          <a:bodyPr wrap="none" lIns="47625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Pretendard"/>
              </a:rPr>
              <a:t>위에서 내려다본 2D 평면상 OLS 교집합 면적 최소화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2000" y="2529780"/>
            <a:ext cx="4762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Pretendard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625" y="2539305"/>
            <a:ext cx="5932661" cy="171450"/>
          </a:xfrm>
          <a:prstGeom prst="rect">
            <a:avLst/>
          </a:prstGeom>
          <a:noFill/>
        </p:spPr>
        <p:txBody>
          <a:bodyPr wrap="none" lIns="47625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Pretendard"/>
              </a:rPr>
              <a:t>같은 건물 내 OLS 중첩은 목적함수에서 제외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2000" y="2777430"/>
            <a:ext cx="4762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Pretendard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625" y="2786955"/>
            <a:ext cx="5932661" cy="171450"/>
          </a:xfrm>
          <a:prstGeom prst="rect">
            <a:avLst/>
          </a:prstGeom>
          <a:noFill/>
        </p:spPr>
        <p:txBody>
          <a:bodyPr wrap="none" lIns="47625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Pretendard"/>
              </a:rPr>
              <a:t>높이가 달라도 XY 평면에서 겹치면 중첩 면적으로 계산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2000" y="3025080"/>
            <a:ext cx="4762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Pretendard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625" y="3034605"/>
            <a:ext cx="5932661" cy="171450"/>
          </a:xfrm>
          <a:prstGeom prst="rect">
            <a:avLst/>
          </a:prstGeom>
          <a:noFill/>
        </p:spPr>
        <p:txBody>
          <a:bodyPr wrap="none" lIns="47625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Pretendard"/>
              </a:rPr>
              <a:t>A-B, A-C, B-C 등 쌍별(Pairwise) 중첩 면적을 각각 합산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93928" y="1729680"/>
            <a:ext cx="10477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34155"/>
                </a:solidFill>
                <a:latin typeface="Pretendard"/>
              </a:rPr>
              <a:t>1.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98703" y="1739205"/>
            <a:ext cx="5893296" cy="171450"/>
          </a:xfrm>
          <a:prstGeom prst="rect">
            <a:avLst/>
          </a:prstGeom>
          <a:noFill/>
        </p:spPr>
        <p:txBody>
          <a:bodyPr wrap="none" lIns="104775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34155"/>
                </a:solidFill>
                <a:latin typeface="Pretendard"/>
              </a:rPr>
              <a:t>다른 건물의 OLS 선택을 고정 후, 한 건물의 모든 허용 조합 비교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93928" y="1958280"/>
            <a:ext cx="10477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34155"/>
                </a:solidFill>
                <a:latin typeface="Pretendard"/>
              </a:rPr>
              <a:t>2.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98703" y="1967805"/>
            <a:ext cx="5893296" cy="171450"/>
          </a:xfrm>
          <a:prstGeom prst="rect">
            <a:avLst/>
          </a:prstGeom>
          <a:noFill/>
        </p:spPr>
        <p:txBody>
          <a:bodyPr wrap="none" lIns="104775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34155"/>
                </a:solidFill>
                <a:latin typeface="Pretendard"/>
              </a:rPr>
              <a:t>중첩 면적이 가장 작은 조합으로 업데이트 후 다음 건물 조정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93928" y="2186880"/>
            <a:ext cx="10477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34155"/>
                </a:solidFill>
                <a:latin typeface="Pretendard"/>
              </a:rPr>
              <a:t>3.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98703" y="2196405"/>
            <a:ext cx="5893296" cy="171450"/>
          </a:xfrm>
          <a:prstGeom prst="rect">
            <a:avLst/>
          </a:prstGeom>
          <a:noFill/>
        </p:spPr>
        <p:txBody>
          <a:bodyPr wrap="none" lIns="104775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34155"/>
                </a:solidFill>
                <a:latin typeface="Pretendard"/>
              </a:rPr>
              <a:t>더 이상 선택이 바뀌지 않을 때까지 전체 순회 반복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1014471" y="624780"/>
            <a:ext cx="720328" cy="247650"/>
          </a:xfrm>
          <a:prstGeom prst="roundRect">
            <a:avLst>
              <a:gd name="adj" fmla="val 15384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1139130"/>
            <a:ext cx="6026794" cy="1133475"/>
          </a:xfrm>
          <a:prstGeom prst="roundRect">
            <a:avLst>
              <a:gd name="adj" fmla="val 1008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2425005"/>
            <a:ext cx="6026794" cy="4219575"/>
          </a:xfrm>
          <a:prstGeom prst="roundRect">
            <a:avLst>
              <a:gd name="adj" fmla="val 270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2263080"/>
            <a:ext cx="602679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139130"/>
            <a:ext cx="602679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139130"/>
            <a:ext cx="38100" cy="1133475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74469" y="1139130"/>
            <a:ext cx="9525" cy="11334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57225" y="2967930"/>
            <a:ext cx="190500" cy="190500"/>
          </a:xfrm>
          <a:prstGeom prst="roundRect">
            <a:avLst>
              <a:gd name="adj" fmla="val 20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57225" y="3272730"/>
            <a:ext cx="190500" cy="190500"/>
          </a:xfrm>
          <a:prstGeom prst="roundRect">
            <a:avLst>
              <a:gd name="adj" fmla="val 20000"/>
            </a:avLst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2594" y="1139130"/>
            <a:ext cx="5022205" cy="52673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109721" y="662880"/>
            <a:ext cx="625078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5803D"/>
                </a:solidFill>
                <a:latin typeface="Pretendard"/>
              </a:rPr>
              <a:t>성과 도출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42900"/>
            <a:ext cx="5149081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retendard"/>
              </a:rPr>
              <a:t>STEP 06. OPTIMIZATION 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52450"/>
            <a:ext cx="5406535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1" i="0" u="none">
                <a:solidFill>
                  <a:srgbClr val="0F172A"/>
                </a:solidFill>
                <a:latin typeface="Pretendard"/>
              </a:rPr>
              <a:t>OLS 중첩 면적 최소화 최종 결과물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0107" y="6482655"/>
            <a:ext cx="610718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64748B"/>
                </a:solidFill>
                <a:latin typeface="Pretendard"/>
              </a:rPr>
              <a:t>서로 다른 건물 간 OLS 중첩 최소화 지도 (EPSG:5186)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1339155"/>
            <a:ext cx="6997712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5803D"/>
                </a:solidFill>
                <a:latin typeface="Pretendard"/>
              </a:rPr>
              <a:t>중첩 영역 2~3개 수준으로 대폭 감소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1643955"/>
            <a:ext cx="5693419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Pretendard"/>
              </a:rPr>
              <a:t>좌표 하강법 최적화 적용 결과, 초기 최대 16개에 달했던 OLS 중첩 개수가 </a:t>
            </a:r>
            <a:r>
              <a:rPr sz="1125" b="1" i="0" u="none">
                <a:solidFill>
                  <a:srgbClr val="475569"/>
                </a:solidFill>
                <a:latin typeface="Pretendard"/>
              </a:rPr>
              <a:t>최대 2~3개 수준으로 극적으로 감소</a:t>
            </a:r>
            <a:r>
              <a:rPr sz="1125" b="0" i="0" u="none">
                <a:solidFill>
                  <a:srgbClr val="475569"/>
                </a:solidFill>
                <a:latin typeface="Pretendard"/>
              </a:rPr>
              <a:t>하였습니다.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7225" y="2625030"/>
            <a:ext cx="7033431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retendard"/>
              </a:rPr>
              <a:t>결과 범례 및 지도 해석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225" y="3653730"/>
            <a:ext cx="703343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retendard"/>
              </a:rPr>
              <a:t>서로 다른 건물 간 XY 중첩 기준 영역을 명확히 정의하고 안전한 이착륙 기하구조를 확보하였습니다.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2025" y="2977455"/>
            <a:ext cx="2657884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Pretendard"/>
              </a:rPr>
              <a:t>OLS 2개 중첩 영역</a:t>
            </a:r>
            <a:r>
              <a:rPr sz="1050" b="0" i="0" u="none">
                <a:solidFill>
                  <a:srgbClr val="334155"/>
                </a:solidFill>
                <a:latin typeface="Pretendard"/>
              </a:rPr>
              <a:t> (주요 교차 부위)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2025" y="3282255"/>
            <a:ext cx="2444874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Pretendard"/>
              </a:rPr>
              <a:t>OLS 3개 중첩 영역</a:t>
            </a:r>
            <a:r>
              <a:rPr sz="1050" b="0" i="0" u="none">
                <a:solidFill>
                  <a:srgbClr val="334155"/>
                </a:solidFill>
                <a:latin typeface="Pretendard"/>
              </a:rPr>
              <a:t> (극소수 영역)</a:t>
            </a: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264E5ECD-6A54-C31A-F0A1-69169173FC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6917" y="1413258"/>
            <a:ext cx="4479283" cy="482384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732442" y="624780"/>
            <a:ext cx="1002357" cy="247650"/>
          </a:xfrm>
          <a:prstGeom prst="roundRect">
            <a:avLst>
              <a:gd name="adj" fmla="val 15384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28309" y="3726060"/>
            <a:ext cx="5302597" cy="1304925"/>
          </a:xfrm>
          <a:prstGeom prst="roundRect">
            <a:avLst>
              <a:gd name="adj" fmla="val 875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28309" y="5145285"/>
            <a:ext cx="5302597" cy="1304925"/>
          </a:xfrm>
          <a:prstGeom prst="roundRect">
            <a:avLst>
              <a:gd name="adj" fmla="val 875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0297" y="1139130"/>
            <a:ext cx="2835175" cy="53054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773" y="1139130"/>
            <a:ext cx="2835175" cy="53054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9822" y="1148655"/>
            <a:ext cx="2816125" cy="52863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09298" y="1148655"/>
            <a:ext cx="2816125" cy="52863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827692" y="662880"/>
            <a:ext cx="907107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Pretendard"/>
              </a:rPr>
              <a:t>공역 설계 배경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2900"/>
            <a:ext cx="6519974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retendard"/>
              </a:rPr>
              <a:t>STEP 07. AIRSPACE CONCEPT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52450"/>
            <a:ext cx="6845972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1" i="0" u="none">
                <a:solidFill>
                  <a:srgbClr val="0F172A"/>
                </a:solidFill>
                <a:latin typeface="Pretendard"/>
              </a:rPr>
              <a:t>Deproach 개념 도입 및 기존 논문 연구 비교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8334" y="3926085"/>
            <a:ext cx="6128184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1E293B"/>
                </a:solidFill>
                <a:latin typeface="Pretendard"/>
              </a:rPr>
              <a:t>1. NASA </a:t>
            </a:r>
            <a:r>
              <a:rPr sz="1350" b="1" i="0" u="none" dirty="0" err="1">
                <a:solidFill>
                  <a:srgbClr val="1E293B"/>
                </a:solidFill>
                <a:latin typeface="Pretendard"/>
              </a:rPr>
              <a:t>기존</a:t>
            </a:r>
            <a:r>
              <a:rPr sz="1350" b="1" i="0" u="none" dirty="0">
                <a:solidFill>
                  <a:srgbClr val="1E293B"/>
                </a:solidFill>
                <a:latin typeface="Pretendard"/>
              </a:rPr>
              <a:t> </a:t>
            </a:r>
            <a:r>
              <a:rPr sz="1350" b="1" i="0" u="none" dirty="0" err="1">
                <a:solidFill>
                  <a:srgbClr val="1E293B"/>
                </a:solidFill>
                <a:latin typeface="Pretendard"/>
              </a:rPr>
              <a:t>Deproach</a:t>
            </a:r>
            <a:r>
              <a:rPr sz="1350" b="1" i="0" u="none" dirty="0">
                <a:solidFill>
                  <a:srgbClr val="1E293B"/>
                </a:solidFill>
                <a:latin typeface="Pretendard"/>
              </a:rPr>
              <a:t> </a:t>
            </a:r>
            <a:r>
              <a:rPr sz="1350" b="1" i="0" u="none" dirty="0" err="1">
                <a:solidFill>
                  <a:srgbClr val="1E293B"/>
                </a:solidFill>
                <a:latin typeface="Pretendard"/>
              </a:rPr>
              <a:t>방식의</a:t>
            </a:r>
            <a:r>
              <a:rPr sz="1350" b="1" i="0" u="none" dirty="0">
                <a:solidFill>
                  <a:srgbClr val="1E293B"/>
                </a:solidFill>
                <a:latin typeface="Pretendard"/>
              </a:rPr>
              <a:t> </a:t>
            </a:r>
            <a:r>
              <a:rPr sz="1350" b="1" i="0" u="none" dirty="0" err="1">
                <a:solidFill>
                  <a:srgbClr val="1E293B"/>
                </a:solidFill>
                <a:latin typeface="Pretendard"/>
              </a:rPr>
              <a:t>한계</a:t>
            </a:r>
            <a:endParaRPr sz="1350" b="1" i="0" u="none" dirty="0">
              <a:solidFill>
                <a:srgbClr val="1E293B"/>
              </a:solidFill>
              <a:latin typeface="Pretendard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28334" y="4230885"/>
            <a:ext cx="4997797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 dirty="0" err="1">
                <a:solidFill>
                  <a:srgbClr val="475569"/>
                </a:solidFill>
                <a:latin typeface="Pretendard"/>
              </a:rPr>
              <a:t>NASA가</a:t>
            </a:r>
            <a:r>
              <a:rPr sz="1050" b="0" i="0" u="none" dirty="0">
                <a:solidFill>
                  <a:srgbClr val="475569"/>
                </a:solidFill>
                <a:latin typeface="Pretendard"/>
              </a:rPr>
              <a:t> </a:t>
            </a:r>
            <a:r>
              <a:rPr sz="1050" b="0" i="0" u="none" dirty="0" err="1">
                <a:solidFill>
                  <a:srgbClr val="475569"/>
                </a:solidFill>
                <a:latin typeface="Pretendard"/>
              </a:rPr>
              <a:t>제시한</a:t>
            </a:r>
            <a:r>
              <a:rPr sz="1050" b="0" i="0" u="none" dirty="0">
                <a:solidFill>
                  <a:srgbClr val="475569"/>
                </a:solidFill>
                <a:latin typeface="Pretendard"/>
              </a:rPr>
              <a:t> </a:t>
            </a:r>
            <a:r>
              <a:rPr sz="1050" b="0" i="0" u="none" dirty="0" err="1">
                <a:solidFill>
                  <a:srgbClr val="475569"/>
                </a:solidFill>
                <a:latin typeface="Pretendard"/>
              </a:rPr>
              <a:t>기존</a:t>
            </a:r>
            <a:r>
              <a:rPr sz="1050" b="0" i="0" u="none" dirty="0">
                <a:solidFill>
                  <a:srgbClr val="475569"/>
                </a:solidFill>
                <a:latin typeface="Pretendard"/>
              </a:rPr>
              <a:t> </a:t>
            </a:r>
            <a:r>
              <a:rPr sz="1050" b="0" i="0" u="none" dirty="0" err="1">
                <a:solidFill>
                  <a:srgbClr val="475569"/>
                </a:solidFill>
                <a:latin typeface="Pretendard"/>
              </a:rPr>
              <a:t>Deproach는</a:t>
            </a:r>
            <a:r>
              <a:rPr sz="1050" b="0" i="0" u="none" dirty="0">
                <a:solidFill>
                  <a:srgbClr val="475569"/>
                </a:solidFill>
                <a:latin typeface="Pretendard"/>
              </a:rPr>
              <a:t> </a:t>
            </a:r>
            <a:r>
              <a:rPr sz="1050" b="0" i="0" u="none" dirty="0" err="1">
                <a:solidFill>
                  <a:srgbClr val="475569"/>
                </a:solidFill>
                <a:latin typeface="Pretendard"/>
              </a:rPr>
              <a:t>보편적으로</a:t>
            </a:r>
            <a:r>
              <a:rPr sz="1050" b="0" i="0" u="none" dirty="0">
                <a:solidFill>
                  <a:srgbClr val="475569"/>
                </a:solidFill>
                <a:latin typeface="Pretendard"/>
              </a:rPr>
              <a:t> </a:t>
            </a:r>
            <a:r>
              <a:rPr sz="1050" b="1" i="0" u="none" dirty="0" err="1">
                <a:solidFill>
                  <a:srgbClr val="475569"/>
                </a:solidFill>
                <a:latin typeface="Pretendard"/>
              </a:rPr>
              <a:t>단일</a:t>
            </a:r>
            <a:r>
              <a:rPr sz="1050" b="1" i="0" u="none" dirty="0">
                <a:solidFill>
                  <a:srgbClr val="475569"/>
                </a:solidFill>
                <a:latin typeface="Pretendard"/>
              </a:rPr>
              <a:t> </a:t>
            </a:r>
            <a:r>
              <a:rPr sz="1050" b="1" i="0" u="none" dirty="0" err="1">
                <a:solidFill>
                  <a:srgbClr val="475569"/>
                </a:solidFill>
                <a:latin typeface="Pretendard"/>
              </a:rPr>
              <a:t>버티포트</a:t>
            </a:r>
            <a:r>
              <a:rPr sz="1050" b="1" i="0" u="none" dirty="0">
                <a:solidFill>
                  <a:srgbClr val="475569"/>
                </a:solidFill>
                <a:latin typeface="Pretendard"/>
              </a:rPr>
              <a:t>(1개)</a:t>
            </a:r>
            <a:r>
              <a:rPr sz="1050" b="0" i="0" u="none" dirty="0">
                <a:solidFill>
                  <a:srgbClr val="475569"/>
                </a:solidFill>
                <a:latin typeface="Pretendard"/>
              </a:rPr>
              <a:t> </a:t>
            </a:r>
            <a:r>
              <a:rPr sz="1050" b="0" i="0" u="none" dirty="0" err="1">
                <a:solidFill>
                  <a:srgbClr val="475569"/>
                </a:solidFill>
                <a:latin typeface="Pretendard"/>
              </a:rPr>
              <a:t>중심의</a:t>
            </a:r>
            <a:r>
              <a:rPr sz="1050" b="0" i="0" u="none" dirty="0">
                <a:solidFill>
                  <a:srgbClr val="475569"/>
                </a:solidFill>
                <a:latin typeface="Pretendard"/>
              </a:rPr>
              <a:t> </a:t>
            </a:r>
            <a:r>
              <a:rPr sz="1050" b="0" i="0" u="none" dirty="0" err="1">
                <a:solidFill>
                  <a:srgbClr val="475569"/>
                </a:solidFill>
                <a:latin typeface="Pretendard"/>
              </a:rPr>
              <a:t>착륙</a:t>
            </a:r>
            <a:r>
              <a:rPr sz="1050" b="0" i="0" u="none" dirty="0">
                <a:solidFill>
                  <a:srgbClr val="475569"/>
                </a:solidFill>
                <a:latin typeface="Pretendard"/>
              </a:rPr>
              <a:t> </a:t>
            </a:r>
            <a:r>
              <a:rPr sz="1050" b="0" i="0" u="none" dirty="0" err="1">
                <a:solidFill>
                  <a:srgbClr val="475569"/>
                </a:solidFill>
                <a:latin typeface="Pretendard"/>
              </a:rPr>
              <a:t>Process를</a:t>
            </a:r>
            <a:r>
              <a:rPr sz="1050" b="0" i="0" u="none" dirty="0">
                <a:solidFill>
                  <a:srgbClr val="475569"/>
                </a:solidFill>
                <a:latin typeface="Pretendard"/>
              </a:rPr>
              <a:t> </a:t>
            </a:r>
            <a:endParaRPr lang="en-US" sz="1050" b="0" i="0" u="none" dirty="0">
              <a:solidFill>
                <a:srgbClr val="475569"/>
              </a:solidFill>
              <a:latin typeface="Pretendard"/>
            </a:endParaRPr>
          </a:p>
          <a:p>
            <a:pPr algn="l">
              <a:lnSpc>
                <a:spcPts val="1575"/>
              </a:lnSpc>
            </a:pPr>
            <a:r>
              <a:rPr sz="1050" b="0" i="0" u="none" dirty="0" err="1">
                <a:solidFill>
                  <a:srgbClr val="475569"/>
                </a:solidFill>
                <a:latin typeface="Pretendard"/>
              </a:rPr>
              <a:t>제공합니다</a:t>
            </a:r>
            <a:r>
              <a:rPr sz="1050" b="0" i="0" u="none" dirty="0">
                <a:solidFill>
                  <a:srgbClr val="475569"/>
                </a:solidFill>
                <a:latin typeface="Pretendard"/>
              </a:rPr>
              <a:t>. </a:t>
            </a:r>
            <a:endParaRPr lang="en-US" sz="1050" b="0" i="0" u="none" dirty="0">
              <a:solidFill>
                <a:srgbClr val="475569"/>
              </a:solidFill>
              <a:latin typeface="Pretendard"/>
            </a:endParaRPr>
          </a:p>
          <a:p>
            <a:pPr algn="l">
              <a:lnSpc>
                <a:spcPts val="1575"/>
              </a:lnSpc>
            </a:pPr>
            <a:r>
              <a:rPr sz="1050" b="0" i="0" u="none" dirty="0" err="1">
                <a:solidFill>
                  <a:srgbClr val="475569"/>
                </a:solidFill>
                <a:latin typeface="Pretendard"/>
              </a:rPr>
              <a:t>그러나</a:t>
            </a:r>
            <a:r>
              <a:rPr sz="1050" b="0" i="0" u="none" dirty="0">
                <a:solidFill>
                  <a:srgbClr val="475569"/>
                </a:solidFill>
                <a:latin typeface="Pretendard"/>
              </a:rPr>
              <a:t> 본 </a:t>
            </a:r>
            <a:r>
              <a:rPr sz="1050" b="0" i="0" u="none" dirty="0" err="1">
                <a:solidFill>
                  <a:srgbClr val="475569"/>
                </a:solidFill>
                <a:latin typeface="Pretendard"/>
              </a:rPr>
              <a:t>연구는</a:t>
            </a:r>
            <a:r>
              <a:rPr sz="1050" b="0" i="0" u="none" dirty="0">
                <a:solidFill>
                  <a:srgbClr val="475569"/>
                </a:solidFill>
                <a:latin typeface="Pretendard"/>
              </a:rPr>
              <a:t> </a:t>
            </a:r>
            <a:r>
              <a:rPr sz="1050" b="0" i="0" u="none" dirty="0" err="1">
                <a:solidFill>
                  <a:srgbClr val="475569"/>
                </a:solidFill>
                <a:latin typeface="Pretendard"/>
              </a:rPr>
              <a:t>옥상</a:t>
            </a:r>
            <a:r>
              <a:rPr sz="1050" b="0" i="0" u="none" dirty="0">
                <a:solidFill>
                  <a:srgbClr val="475569"/>
                </a:solidFill>
                <a:latin typeface="Pretendard"/>
              </a:rPr>
              <a:t> </a:t>
            </a:r>
            <a:r>
              <a:rPr sz="1050" b="0" i="0" u="none" dirty="0" err="1">
                <a:solidFill>
                  <a:srgbClr val="475569"/>
                </a:solidFill>
                <a:latin typeface="Pretendard"/>
              </a:rPr>
              <a:t>헬리포트가</a:t>
            </a:r>
            <a:r>
              <a:rPr sz="1050" b="0" i="0" u="none" dirty="0">
                <a:solidFill>
                  <a:srgbClr val="475569"/>
                </a:solidFill>
                <a:latin typeface="Pretendard"/>
              </a:rPr>
              <a:t> </a:t>
            </a:r>
            <a:r>
              <a:rPr sz="1050" b="0" i="0" u="none" dirty="0" err="1">
                <a:solidFill>
                  <a:srgbClr val="475569"/>
                </a:solidFill>
                <a:latin typeface="Pretendard"/>
              </a:rPr>
              <a:t>도시</a:t>
            </a:r>
            <a:r>
              <a:rPr sz="1050" b="0" i="0" u="none" dirty="0">
                <a:solidFill>
                  <a:srgbClr val="475569"/>
                </a:solidFill>
                <a:latin typeface="Pretendard"/>
              </a:rPr>
              <a:t> 내 </a:t>
            </a:r>
            <a:r>
              <a:rPr sz="1050" b="0" i="0" u="none" dirty="0" err="1">
                <a:solidFill>
                  <a:srgbClr val="475569"/>
                </a:solidFill>
                <a:latin typeface="Pretendard"/>
              </a:rPr>
              <a:t>넓고</a:t>
            </a:r>
            <a:r>
              <a:rPr sz="1050" b="0" i="0" u="none" dirty="0">
                <a:solidFill>
                  <a:srgbClr val="475569"/>
                </a:solidFill>
                <a:latin typeface="Pretendard"/>
              </a:rPr>
              <a:t> </a:t>
            </a:r>
            <a:r>
              <a:rPr sz="1050" b="0" i="0" u="none" dirty="0" err="1">
                <a:solidFill>
                  <a:srgbClr val="475569"/>
                </a:solidFill>
                <a:latin typeface="Pretendard"/>
              </a:rPr>
              <a:t>고르게</a:t>
            </a:r>
            <a:r>
              <a:rPr sz="1050" b="0" i="0" u="none" dirty="0">
                <a:solidFill>
                  <a:srgbClr val="475569"/>
                </a:solidFill>
                <a:latin typeface="Pretendard"/>
              </a:rPr>
              <a:t> </a:t>
            </a:r>
            <a:r>
              <a:rPr sz="1050" b="0" i="0" u="none" dirty="0" err="1">
                <a:solidFill>
                  <a:srgbClr val="475569"/>
                </a:solidFill>
                <a:latin typeface="Pretendard"/>
              </a:rPr>
              <a:t>분포된</a:t>
            </a:r>
            <a:r>
              <a:rPr sz="1050" b="0" i="0" u="none" dirty="0">
                <a:solidFill>
                  <a:srgbClr val="475569"/>
                </a:solidFill>
                <a:latin typeface="Pretendard"/>
              </a:rPr>
              <a:t> </a:t>
            </a:r>
            <a:r>
              <a:rPr sz="1050" b="0" i="0" u="none" dirty="0" err="1">
                <a:solidFill>
                  <a:srgbClr val="475569"/>
                </a:solidFill>
                <a:latin typeface="Pretendard"/>
              </a:rPr>
              <a:t>환경을</a:t>
            </a:r>
            <a:r>
              <a:rPr sz="1050" b="0" i="0" u="none" dirty="0">
                <a:solidFill>
                  <a:srgbClr val="475569"/>
                </a:solidFill>
                <a:latin typeface="Pretendard"/>
              </a:rPr>
              <a:t> </a:t>
            </a:r>
            <a:r>
              <a:rPr sz="1050" b="0" i="0" u="none" dirty="0" err="1">
                <a:solidFill>
                  <a:srgbClr val="475569"/>
                </a:solidFill>
                <a:latin typeface="Pretendard"/>
              </a:rPr>
              <a:t>대상으로</a:t>
            </a:r>
            <a:r>
              <a:rPr sz="1050" b="0" i="0" u="none" dirty="0">
                <a:solidFill>
                  <a:srgbClr val="475569"/>
                </a:solidFill>
                <a:latin typeface="Pretendard"/>
              </a:rPr>
              <a:t> </a:t>
            </a:r>
            <a:r>
              <a:rPr sz="1050" b="0" i="0" u="none" dirty="0" err="1">
                <a:solidFill>
                  <a:srgbClr val="475569"/>
                </a:solidFill>
                <a:latin typeface="Pretendard"/>
              </a:rPr>
              <a:t>합니다</a:t>
            </a:r>
            <a:r>
              <a:rPr sz="1050" b="0" i="0" u="none" dirty="0">
                <a:solidFill>
                  <a:srgbClr val="475569"/>
                </a:solidFill>
                <a:latin typeface="Pretendard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8334" y="5345310"/>
            <a:ext cx="6128184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retendard"/>
              </a:rPr>
              <a:t>2. 선행 연구(Shao et al., 2021) 비교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334" y="5650110"/>
            <a:ext cx="4997797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475569"/>
                </a:solidFill>
                <a:latin typeface="Pretendard"/>
              </a:rPr>
              <a:t>Multi-vertiport system(MVS-TA) 연구에서도 여러 버티포트의 존재를 가정하였으나 버티포트 간의 정확한 간격을 정의하지 않았습니다.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334" y="6078735"/>
            <a:ext cx="6128184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Pretendard"/>
              </a:rPr>
              <a:t>→ 기존 논문과 목표 및 초기 조건이 다르므로 독자적인 공역 구조 설계 적용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5900" y="6501705"/>
            <a:ext cx="3543969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64748B"/>
                </a:solidFill>
                <a:latin typeface="Pretendard"/>
              </a:rPr>
              <a:t>분포형 옥상 헬리포트 배치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5376" y="6501705"/>
            <a:ext cx="3543969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64748B"/>
                </a:solidFill>
                <a:latin typeface="Pretendard"/>
              </a:rPr>
              <a:t>MVS-TA 선행연구 공역 구조</a:t>
            </a: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033BE35D-D47E-8150-3065-17D68D2036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0302" y="2292131"/>
            <a:ext cx="2764748" cy="2999422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01519450-1E6B-63F2-7F8B-487DBC60926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09298" y="2775524"/>
            <a:ext cx="2816197" cy="2207955"/>
          </a:xfrm>
          <a:prstGeom prst="rect">
            <a:avLst/>
          </a:prstGeom>
        </p:spPr>
      </p:pic>
      <p:sp>
        <p:nvSpPr>
          <p:cNvPr id="24" name="Rounded Rectangle 2">
            <a:extLst>
              <a:ext uri="{FF2B5EF4-FFF2-40B4-BE49-F238E27FC236}">
                <a16:creationId xmlns:a16="http://schemas.microsoft.com/office/drawing/2014/main" id="{FEBFE00A-3DF2-F388-965D-22D90E1AB981}"/>
              </a:ext>
            </a:extLst>
          </p:cNvPr>
          <p:cNvSpPr/>
          <p:nvPr/>
        </p:nvSpPr>
        <p:spPr>
          <a:xfrm>
            <a:off x="428308" y="1139131"/>
            <a:ext cx="5302597" cy="2472630"/>
          </a:xfrm>
          <a:prstGeom prst="roundRect">
            <a:avLst>
              <a:gd name="adj" fmla="val 875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BED4291-547A-F87E-9CB4-8BB68C0818FB}"/>
              </a:ext>
            </a:extLst>
          </p:cNvPr>
          <p:cNvSpPr txBox="1"/>
          <p:nvPr/>
        </p:nvSpPr>
        <p:spPr>
          <a:xfrm>
            <a:off x="653095" y="1318824"/>
            <a:ext cx="5068695" cy="166199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ko-KR" altLang="en-US" sz="1350" b="1" dirty="0">
                <a:solidFill>
                  <a:srgbClr val="1E293B"/>
                </a:solidFill>
                <a:latin typeface="Pretendard"/>
              </a:rPr>
              <a:t>본 선정된 옥상 헬리포트와 이를 중심으로 생성된 </a:t>
            </a:r>
            <a:r>
              <a:rPr lang="en-US" altLang="ko-KR" sz="1350" b="1" dirty="0">
                <a:solidFill>
                  <a:srgbClr val="1E293B"/>
                </a:solidFill>
                <a:latin typeface="Pretendard"/>
              </a:rPr>
              <a:t>OLS</a:t>
            </a:r>
            <a:r>
              <a:rPr lang="ko-KR" altLang="en-US" sz="1350" b="1" dirty="0">
                <a:solidFill>
                  <a:srgbClr val="1E293B"/>
                </a:solidFill>
                <a:latin typeface="Pretendard"/>
              </a:rPr>
              <a:t>를 통해</a:t>
            </a:r>
            <a:r>
              <a:rPr lang="en-US" altLang="ko-KR" sz="1350" b="1" dirty="0">
                <a:solidFill>
                  <a:srgbClr val="1E293B"/>
                </a:solidFill>
                <a:latin typeface="Pretendard"/>
              </a:rPr>
              <a:t>,</a:t>
            </a:r>
          </a:p>
          <a:p>
            <a:pPr algn="l"/>
            <a:endParaRPr lang="en-US" sz="1350" b="1" i="0" u="none" dirty="0">
              <a:solidFill>
                <a:srgbClr val="1E293B"/>
              </a:solidFill>
              <a:latin typeface="Pretendard"/>
            </a:endParaRPr>
          </a:p>
          <a:p>
            <a:pPr algn="l"/>
            <a:r>
              <a:rPr lang="en-US" sz="1350" b="1" dirty="0">
                <a:solidFill>
                  <a:srgbClr val="1E293B"/>
                </a:solidFill>
                <a:latin typeface="Pretendard"/>
              </a:rPr>
              <a:t>STAR / SID</a:t>
            </a:r>
            <a:r>
              <a:rPr lang="ko-KR" altLang="en-US" sz="1350" b="1" dirty="0">
                <a:solidFill>
                  <a:srgbClr val="1E293B"/>
                </a:solidFill>
                <a:latin typeface="Pretendard"/>
              </a:rPr>
              <a:t>를 제작하고자 한다</a:t>
            </a:r>
            <a:r>
              <a:rPr lang="en-US" altLang="ko-KR" sz="1350" b="1" dirty="0">
                <a:solidFill>
                  <a:srgbClr val="1E293B"/>
                </a:solidFill>
                <a:latin typeface="Pretendard"/>
              </a:rPr>
              <a:t>.</a:t>
            </a:r>
          </a:p>
          <a:p>
            <a:pPr algn="l"/>
            <a:endParaRPr lang="en-US" sz="1350" b="1" dirty="0">
              <a:solidFill>
                <a:srgbClr val="1E293B"/>
              </a:solidFill>
              <a:latin typeface="Pretendard"/>
            </a:endParaRPr>
          </a:p>
          <a:p>
            <a:pPr algn="l"/>
            <a:r>
              <a:rPr lang="ko-KR" altLang="en-US" sz="1350" b="1" dirty="0">
                <a:solidFill>
                  <a:srgbClr val="1E293B"/>
                </a:solidFill>
                <a:latin typeface="Pretendard"/>
              </a:rPr>
              <a:t>이를 위해 </a:t>
            </a:r>
            <a:r>
              <a:rPr lang="en-US" altLang="ko-KR" sz="1350" b="1" dirty="0">
                <a:solidFill>
                  <a:srgbClr val="1E293B"/>
                </a:solidFill>
                <a:latin typeface="Pretendard"/>
              </a:rPr>
              <a:t>NASA</a:t>
            </a:r>
            <a:r>
              <a:rPr lang="ko-KR" altLang="en-US" sz="1350" b="1" dirty="0">
                <a:solidFill>
                  <a:srgbClr val="1E293B"/>
                </a:solidFill>
                <a:latin typeface="Pretendard"/>
              </a:rPr>
              <a:t>와</a:t>
            </a:r>
            <a:r>
              <a:rPr lang="en-US" altLang="ko-KR" sz="1350" b="1" dirty="0">
                <a:solidFill>
                  <a:srgbClr val="1E293B"/>
                </a:solidFill>
                <a:latin typeface="Pretendard"/>
              </a:rPr>
              <a:t> </a:t>
            </a:r>
            <a:r>
              <a:rPr lang="ko-KR" altLang="en-US" sz="1350" b="1" dirty="0">
                <a:solidFill>
                  <a:srgbClr val="1E293B"/>
                </a:solidFill>
                <a:latin typeface="Pretendard"/>
              </a:rPr>
              <a:t>각종 기관에서 기재한 </a:t>
            </a:r>
            <a:r>
              <a:rPr lang="en-US" altLang="ko-KR" sz="1350" b="1" dirty="0" err="1">
                <a:solidFill>
                  <a:srgbClr val="1E293B"/>
                </a:solidFill>
                <a:latin typeface="Pretendard"/>
              </a:rPr>
              <a:t>Deproach</a:t>
            </a:r>
            <a:r>
              <a:rPr lang="ko-KR" altLang="en-US" sz="1350" b="1" dirty="0">
                <a:solidFill>
                  <a:srgbClr val="1E293B"/>
                </a:solidFill>
                <a:latin typeface="Pretendard"/>
              </a:rPr>
              <a:t>를 참고하였다</a:t>
            </a:r>
            <a:r>
              <a:rPr lang="en-US" altLang="ko-KR" sz="1350" b="1" dirty="0">
                <a:solidFill>
                  <a:srgbClr val="1E293B"/>
                </a:solidFill>
                <a:latin typeface="Pretendard"/>
              </a:rPr>
              <a:t>.</a:t>
            </a:r>
          </a:p>
          <a:p>
            <a:pPr algn="l"/>
            <a:endParaRPr lang="en-US" altLang="ko-KR" sz="1350" b="1" dirty="0">
              <a:solidFill>
                <a:srgbClr val="1E293B"/>
              </a:solidFill>
              <a:latin typeface="Pretendard"/>
            </a:endParaRPr>
          </a:p>
          <a:p>
            <a:pPr algn="l"/>
            <a:r>
              <a:rPr lang="ko-KR" altLang="en-US" sz="1350" b="1" dirty="0">
                <a:solidFill>
                  <a:srgbClr val="1E293B"/>
                </a:solidFill>
                <a:latin typeface="Pretendard"/>
              </a:rPr>
              <a:t>하지만</a:t>
            </a:r>
            <a:r>
              <a:rPr lang="en-US" altLang="ko-KR" sz="1350" b="1" dirty="0">
                <a:solidFill>
                  <a:srgbClr val="1E293B"/>
                </a:solidFill>
                <a:latin typeface="Pretendard"/>
              </a:rPr>
              <a:t>, </a:t>
            </a:r>
            <a:r>
              <a:rPr lang="ko-KR" altLang="en-US" sz="1350" b="1" dirty="0">
                <a:solidFill>
                  <a:srgbClr val="1E293B"/>
                </a:solidFill>
                <a:latin typeface="Pretendard"/>
              </a:rPr>
              <a:t>해당 논문들은 기존 학습에서 나아가고자 하는 방향과 </a:t>
            </a:r>
            <a:endParaRPr lang="en-US" altLang="ko-KR" sz="1350" b="1" dirty="0">
              <a:solidFill>
                <a:srgbClr val="1E293B"/>
              </a:solidFill>
              <a:latin typeface="Pretendard"/>
            </a:endParaRPr>
          </a:p>
          <a:p>
            <a:pPr algn="l"/>
            <a:r>
              <a:rPr lang="ko-KR" altLang="en-US" sz="1350" b="1" dirty="0">
                <a:solidFill>
                  <a:srgbClr val="1E293B"/>
                </a:solidFill>
                <a:latin typeface="Pretendard"/>
              </a:rPr>
              <a:t>큰 차이가 있다</a:t>
            </a:r>
            <a:r>
              <a:rPr lang="en-US" altLang="ko-KR" sz="1350" b="1" dirty="0">
                <a:solidFill>
                  <a:srgbClr val="1E293B"/>
                </a:solidFill>
                <a:latin typeface="Pretendard"/>
              </a:rPr>
              <a:t>.</a:t>
            </a:r>
            <a:endParaRPr lang="en-US" sz="1350" b="1" dirty="0">
              <a:solidFill>
                <a:srgbClr val="1E293B"/>
              </a:solidFill>
              <a:latin typeface="Pretendar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1062692" y="624780"/>
            <a:ext cx="672107" cy="247650"/>
          </a:xfrm>
          <a:prstGeom prst="roundRect">
            <a:avLst>
              <a:gd name="adj" fmla="val 15384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2379761"/>
            <a:ext cx="5787628" cy="1347787"/>
          </a:xfrm>
          <a:prstGeom prst="roundRect">
            <a:avLst>
              <a:gd name="adj" fmla="val 848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3879949"/>
            <a:ext cx="5787628" cy="1524000"/>
          </a:xfrm>
          <a:prstGeom prst="roundRect">
            <a:avLst>
              <a:gd name="adj" fmla="val 7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3718024"/>
            <a:ext cx="578762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2379761"/>
            <a:ext cx="578762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2379761"/>
            <a:ext cx="38100" cy="134778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35303" y="2379761"/>
            <a:ext cx="9525" cy="134778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57225" y="4384774"/>
            <a:ext cx="5387578" cy="361950"/>
          </a:xfrm>
          <a:prstGeom prst="roundRect">
            <a:avLst>
              <a:gd name="adj" fmla="val 15789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57225" y="4841974"/>
            <a:ext cx="5387578" cy="361950"/>
          </a:xfrm>
          <a:prstGeom prst="roundRect">
            <a:avLst>
              <a:gd name="adj" fmla="val 15789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428" y="1139130"/>
            <a:ext cx="5709047" cy="52673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157942" y="662880"/>
            <a:ext cx="576857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Pretendard"/>
              </a:rPr>
              <a:t>IAF 절차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42900"/>
            <a:ext cx="635254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retendard"/>
              </a:rPr>
              <a:t>STEP 09. IAF &amp; APPROACH PROCEDURE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52450"/>
            <a:ext cx="3855223" cy="32060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 i="0" u="none" dirty="0">
                <a:solidFill>
                  <a:srgbClr val="0F172A"/>
                </a:solidFill>
                <a:latin typeface="Pretendard"/>
              </a:rPr>
              <a:t>Dual Ring </a:t>
            </a:r>
            <a:r>
              <a:rPr sz="2100" b="1" i="0" u="none" dirty="0" err="1">
                <a:solidFill>
                  <a:srgbClr val="0F172A"/>
                </a:solidFill>
                <a:latin typeface="Pretendard"/>
              </a:rPr>
              <a:t>설정</a:t>
            </a:r>
            <a:r>
              <a:rPr sz="2100" b="1" i="0" u="none" dirty="0">
                <a:solidFill>
                  <a:srgbClr val="0F172A"/>
                </a:solidFill>
                <a:latin typeface="Pretendard"/>
              </a:rPr>
              <a:t> 및 Approach </a:t>
            </a:r>
            <a:r>
              <a:rPr sz="2100" b="1" i="0" u="none" dirty="0" err="1">
                <a:solidFill>
                  <a:srgbClr val="0F172A"/>
                </a:solidFill>
                <a:latin typeface="Pretendard"/>
              </a:rPr>
              <a:t>절차</a:t>
            </a:r>
            <a:endParaRPr sz="2100" b="1" i="0" u="none" dirty="0">
              <a:solidFill>
                <a:srgbClr val="0F172A"/>
              </a:solidFill>
              <a:latin typeface="Pretendard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915992" y="6482655"/>
            <a:ext cx="6376243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 i="0" u="none" dirty="0">
                <a:solidFill>
                  <a:srgbClr val="64748B"/>
                </a:solidFill>
                <a:latin typeface="Pretendard"/>
              </a:rPr>
              <a:t>Approach (</a:t>
            </a:r>
            <a:r>
              <a:rPr sz="900" b="0" i="0" u="none" dirty="0" err="1">
                <a:solidFill>
                  <a:srgbClr val="64748B"/>
                </a:solidFill>
                <a:latin typeface="Pretendard"/>
              </a:rPr>
              <a:t>진입</a:t>
            </a:r>
            <a:r>
              <a:rPr sz="900" b="0" i="0" u="none" dirty="0">
                <a:solidFill>
                  <a:srgbClr val="64748B"/>
                </a:solidFill>
                <a:latin typeface="Pretendard"/>
              </a:rPr>
              <a:t>) </a:t>
            </a:r>
            <a:r>
              <a:rPr sz="900" b="0" i="0" u="none" dirty="0" err="1">
                <a:solidFill>
                  <a:srgbClr val="64748B"/>
                </a:solidFill>
                <a:latin typeface="Pretendard"/>
              </a:rPr>
              <a:t>항로</a:t>
            </a:r>
            <a:r>
              <a:rPr sz="900" b="0" i="0" u="none" dirty="0">
                <a:solidFill>
                  <a:srgbClr val="64748B"/>
                </a:solidFill>
                <a:latin typeface="Pretendard"/>
              </a:rPr>
              <a:t> 망 </a:t>
            </a:r>
            <a:r>
              <a:rPr sz="900" b="0" i="0" u="none" dirty="0" err="1">
                <a:solidFill>
                  <a:srgbClr val="64748B"/>
                </a:solidFill>
                <a:latin typeface="Pretendard"/>
              </a:rPr>
              <a:t>네트워크</a:t>
            </a:r>
            <a:endParaRPr sz="900" b="0" i="0" u="none" dirty="0">
              <a:solidFill>
                <a:srgbClr val="64748B"/>
              </a:solidFill>
              <a:latin typeface="Pretendard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85800" y="2579786"/>
            <a:ext cx="2640146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1E293B"/>
                </a:solidFill>
                <a:latin typeface="Pretendard"/>
              </a:rPr>
              <a:t>1. </a:t>
            </a:r>
            <a:r>
              <a:rPr lang="en-US" sz="1350" b="1" dirty="0">
                <a:solidFill>
                  <a:srgbClr val="1E293B"/>
                </a:solidFill>
                <a:latin typeface="Pretendard"/>
              </a:rPr>
              <a:t>Dual Ring, </a:t>
            </a:r>
            <a:r>
              <a:rPr lang="ko-KR" altLang="en-US" sz="1350" b="1" dirty="0">
                <a:solidFill>
                  <a:srgbClr val="1E293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서로 반대 방향으로 비행</a:t>
            </a:r>
            <a:endParaRPr sz="1350" b="1" i="0" u="none" dirty="0">
              <a:solidFill>
                <a:srgbClr val="1E293B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85800" y="2884586"/>
            <a:ext cx="5454253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 dirty="0" err="1">
                <a:solidFill>
                  <a:srgbClr val="475569"/>
                </a:solidFill>
                <a:latin typeface="Pretendard"/>
              </a:rPr>
              <a:t>기존</a:t>
            </a:r>
            <a:r>
              <a:rPr sz="1125" b="0" i="0" u="none" dirty="0">
                <a:solidFill>
                  <a:srgbClr val="475569"/>
                </a:solidFill>
                <a:latin typeface="Pretendard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Pretendard"/>
              </a:rPr>
              <a:t>선회</a:t>
            </a:r>
            <a:r>
              <a:rPr sz="1125" b="0" i="0" u="none" dirty="0">
                <a:solidFill>
                  <a:srgbClr val="475569"/>
                </a:solidFill>
                <a:latin typeface="Pretendard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Pretendard"/>
              </a:rPr>
              <a:t>방식</a:t>
            </a:r>
            <a:r>
              <a:rPr sz="1125" b="0" i="0" u="none" dirty="0">
                <a:solidFill>
                  <a:srgbClr val="475569"/>
                </a:solidFill>
                <a:latin typeface="Pretendard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Pretendard"/>
              </a:rPr>
              <a:t>적용</a:t>
            </a:r>
            <a:r>
              <a:rPr sz="1125" b="0" i="0" u="none" dirty="0">
                <a:solidFill>
                  <a:srgbClr val="475569"/>
                </a:solidFill>
                <a:latin typeface="Pretendard"/>
              </a:rPr>
              <a:t> 시 </a:t>
            </a:r>
            <a:r>
              <a:rPr sz="1125" b="0" i="0" u="none" dirty="0" err="1">
                <a:solidFill>
                  <a:srgbClr val="475569"/>
                </a:solidFill>
                <a:latin typeface="Pretendard"/>
              </a:rPr>
              <a:t>최악의</a:t>
            </a:r>
            <a:r>
              <a:rPr sz="1125" b="0" i="0" u="none" dirty="0">
                <a:solidFill>
                  <a:srgbClr val="475569"/>
                </a:solidFill>
                <a:latin typeface="Pretendard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Pretendard"/>
              </a:rPr>
              <a:t>경우</a:t>
            </a:r>
            <a:r>
              <a:rPr sz="1125" b="0" i="0" u="none" dirty="0">
                <a:solidFill>
                  <a:srgbClr val="475569"/>
                </a:solidFill>
                <a:latin typeface="Pretendard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Pretendard"/>
              </a:rPr>
              <a:t>기체가</a:t>
            </a:r>
            <a:r>
              <a:rPr sz="1125" b="0" i="0" u="none" dirty="0">
                <a:solidFill>
                  <a:srgbClr val="475569"/>
                </a:solidFill>
                <a:latin typeface="Pretendard"/>
              </a:rPr>
              <a:t> </a:t>
            </a:r>
            <a:r>
              <a:rPr sz="1125" b="1" i="0" u="none" dirty="0">
                <a:solidFill>
                  <a:srgbClr val="475569"/>
                </a:solidFill>
                <a:latin typeface="Pretendard"/>
              </a:rPr>
              <a:t>3/4 </a:t>
            </a:r>
            <a:r>
              <a:rPr sz="1125" b="1" i="0" u="none" dirty="0" err="1">
                <a:solidFill>
                  <a:srgbClr val="475569"/>
                </a:solidFill>
                <a:latin typeface="Pretendard"/>
              </a:rPr>
              <a:t>바퀴</a:t>
            </a:r>
            <a:r>
              <a:rPr lang="en-US" sz="1125" b="1" i="0" u="none" dirty="0">
                <a:solidFill>
                  <a:srgbClr val="475569"/>
                </a:solidFill>
                <a:latin typeface="Pretendard"/>
              </a:rPr>
              <a:t> </a:t>
            </a:r>
            <a:r>
              <a:rPr lang="ko-KR" altLang="en-US" sz="1125" b="1" i="0" u="none" dirty="0">
                <a:solidFill>
                  <a:srgbClr val="47556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이상</a:t>
            </a:r>
            <a:r>
              <a:rPr lang="ko-KR" altLang="en-US" sz="1125" b="1" dirty="0">
                <a:solidFill>
                  <a:srgbClr val="47556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을</a:t>
            </a:r>
            <a:r>
              <a:rPr sz="1125" b="1" i="0" u="none" dirty="0">
                <a:solidFill>
                  <a:srgbClr val="475569"/>
                </a:solidFill>
                <a:latin typeface="Pretendard"/>
              </a:rPr>
              <a:t> </a:t>
            </a:r>
            <a:r>
              <a:rPr sz="1125" b="1" i="0" u="none" dirty="0" err="1">
                <a:solidFill>
                  <a:srgbClr val="475569"/>
                </a:solidFill>
                <a:latin typeface="Pretendard"/>
              </a:rPr>
              <a:t>비효율적으로</a:t>
            </a:r>
            <a:r>
              <a:rPr sz="1125" b="1" i="0" u="none" dirty="0">
                <a:solidFill>
                  <a:srgbClr val="475569"/>
                </a:solidFill>
                <a:latin typeface="Pretendard"/>
              </a:rPr>
              <a:t> </a:t>
            </a:r>
            <a:r>
              <a:rPr sz="1125" b="1" i="0" u="none" dirty="0" err="1">
                <a:solidFill>
                  <a:srgbClr val="475569"/>
                </a:solidFill>
                <a:latin typeface="Pretendard"/>
              </a:rPr>
              <a:t>선회</a:t>
            </a:r>
            <a:r>
              <a:rPr sz="1125" b="0" i="0" u="none" dirty="0" err="1">
                <a:solidFill>
                  <a:srgbClr val="475569"/>
                </a:solidFill>
                <a:latin typeface="Pretendard"/>
              </a:rPr>
              <a:t>하는</a:t>
            </a:r>
            <a:r>
              <a:rPr sz="1125" b="0" i="0" u="none" dirty="0">
                <a:solidFill>
                  <a:srgbClr val="475569"/>
                </a:solidFill>
                <a:latin typeface="Pretendard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Pretendard"/>
              </a:rPr>
              <a:t>문제가</a:t>
            </a:r>
            <a:r>
              <a:rPr sz="1125" b="0" i="0" u="none" dirty="0">
                <a:solidFill>
                  <a:srgbClr val="475569"/>
                </a:solidFill>
                <a:latin typeface="Pretendard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Pretendard"/>
              </a:rPr>
              <a:t>발생합니다</a:t>
            </a:r>
            <a:r>
              <a:rPr sz="1125" b="0" i="0" u="none" dirty="0">
                <a:solidFill>
                  <a:srgbClr val="475569"/>
                </a:solidFill>
                <a:latin typeface="Pretendard"/>
              </a:rPr>
              <a:t>. </a:t>
            </a:r>
            <a:r>
              <a:rPr sz="1125" b="0" i="0" u="none" dirty="0" err="1">
                <a:solidFill>
                  <a:srgbClr val="475569"/>
                </a:solidFill>
                <a:latin typeface="Pretendard"/>
              </a:rPr>
              <a:t>Interchange와</a:t>
            </a:r>
            <a:r>
              <a:rPr sz="1125" b="0" i="0" u="none" dirty="0">
                <a:solidFill>
                  <a:srgbClr val="475569"/>
                </a:solidFill>
                <a:latin typeface="Pretendard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Pretendard"/>
              </a:rPr>
              <a:t>IAF를</a:t>
            </a:r>
            <a:r>
              <a:rPr sz="1125" b="0" i="0" u="none" dirty="0">
                <a:solidFill>
                  <a:srgbClr val="475569"/>
                </a:solidFill>
                <a:latin typeface="Pretendard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Pretendard"/>
              </a:rPr>
              <a:t>활용해</a:t>
            </a:r>
            <a:r>
              <a:rPr sz="1125" b="0" i="0" u="none" dirty="0">
                <a:solidFill>
                  <a:srgbClr val="475569"/>
                </a:solidFill>
                <a:latin typeface="Pretendard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Pretendard"/>
              </a:rPr>
              <a:t>시계</a:t>
            </a:r>
            <a:r>
              <a:rPr sz="1125" b="0" i="0" u="none" dirty="0">
                <a:solidFill>
                  <a:srgbClr val="475569"/>
                </a:solidFill>
                <a:latin typeface="Pretendard"/>
              </a:rPr>
              <a:t>/</a:t>
            </a:r>
            <a:r>
              <a:rPr sz="1125" b="0" i="0" u="none" dirty="0" err="1">
                <a:solidFill>
                  <a:srgbClr val="475569"/>
                </a:solidFill>
                <a:latin typeface="Pretendard"/>
              </a:rPr>
              <a:t>반시계</a:t>
            </a:r>
            <a:r>
              <a:rPr sz="1125" b="0" i="0" u="none" dirty="0">
                <a:solidFill>
                  <a:srgbClr val="475569"/>
                </a:solidFill>
                <a:latin typeface="Pretendard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Pretendard"/>
              </a:rPr>
              <a:t>비행을</a:t>
            </a:r>
            <a:r>
              <a:rPr sz="1125" b="0" i="0" u="none" dirty="0">
                <a:solidFill>
                  <a:srgbClr val="475569"/>
                </a:solidFill>
                <a:latin typeface="Pretendard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Pretendard"/>
              </a:rPr>
              <a:t>자유롭게</a:t>
            </a:r>
            <a:r>
              <a:rPr sz="1125" b="0" i="0" u="none" dirty="0">
                <a:solidFill>
                  <a:srgbClr val="475569"/>
                </a:solidFill>
                <a:latin typeface="Pretendard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Pretendard"/>
              </a:rPr>
              <a:t>선택함으로써</a:t>
            </a:r>
            <a:r>
              <a:rPr sz="1125" b="0" i="0" u="none" dirty="0">
                <a:solidFill>
                  <a:srgbClr val="475569"/>
                </a:solidFill>
                <a:latin typeface="Pretendard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Pretendard"/>
              </a:rPr>
              <a:t>최단</a:t>
            </a:r>
            <a:r>
              <a:rPr sz="1125" b="0" i="0" u="none" dirty="0">
                <a:solidFill>
                  <a:srgbClr val="475569"/>
                </a:solidFill>
                <a:latin typeface="Pretendard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Pretendard"/>
              </a:rPr>
              <a:t>경로를</a:t>
            </a:r>
            <a:r>
              <a:rPr sz="1125" b="0" i="0" u="none" dirty="0">
                <a:solidFill>
                  <a:srgbClr val="475569"/>
                </a:solidFill>
                <a:latin typeface="Pretendard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Pretendard"/>
              </a:rPr>
              <a:t>달성합니다</a:t>
            </a:r>
            <a:r>
              <a:rPr sz="1125" b="0" i="0" u="none" dirty="0">
                <a:solidFill>
                  <a:srgbClr val="475569"/>
                </a:solidFill>
                <a:latin typeface="Pretendard"/>
              </a:rPr>
              <a:t>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7225" y="4079974"/>
            <a:ext cx="1885131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1E293B"/>
                </a:solidFill>
                <a:latin typeface="Pretendard"/>
              </a:rPr>
              <a:t>2. </a:t>
            </a:r>
            <a:r>
              <a:rPr lang="en-US" sz="1350" b="1" i="0" u="none" dirty="0">
                <a:solidFill>
                  <a:srgbClr val="1E293B"/>
                </a:solidFill>
                <a:latin typeface="Pretendard"/>
              </a:rPr>
              <a:t>Approach /</a:t>
            </a:r>
            <a:r>
              <a:rPr sz="1350" b="1" i="0" u="none" dirty="0">
                <a:solidFill>
                  <a:srgbClr val="1E293B"/>
                </a:solidFill>
                <a:latin typeface="Pretendard"/>
              </a:rPr>
              <a:t> 2가지 </a:t>
            </a:r>
            <a:r>
              <a:rPr sz="1350" b="1" i="0" u="none" dirty="0" err="1">
                <a:solidFill>
                  <a:srgbClr val="1E293B"/>
                </a:solidFill>
                <a:latin typeface="Pretendard"/>
              </a:rPr>
              <a:t>유형</a:t>
            </a:r>
            <a:endParaRPr sz="1350" b="1" i="0" u="none" dirty="0">
              <a:solidFill>
                <a:srgbClr val="1E293B"/>
              </a:solidFill>
              <a:latin typeface="Pretendard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52475" y="4480024"/>
            <a:ext cx="5292328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34155"/>
                </a:solidFill>
                <a:latin typeface="Pretendard"/>
              </a:rPr>
              <a:t>유형 1:</a:t>
            </a:r>
            <a:r>
              <a:rPr sz="975" b="0" i="0" u="none">
                <a:solidFill>
                  <a:srgbClr val="334155"/>
                </a:solidFill>
                <a:latin typeface="Pretendard"/>
              </a:rPr>
              <a:t> Outer Ring → Inner Ring (IAF) → OLS 진입표면 (FAF)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2475" y="4937224"/>
            <a:ext cx="5292328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34155"/>
                </a:solidFill>
                <a:latin typeface="Pretendard"/>
              </a:rPr>
              <a:t>유형 2:</a:t>
            </a:r>
            <a:r>
              <a:rPr sz="975" b="0" i="0" u="none">
                <a:solidFill>
                  <a:srgbClr val="334155"/>
                </a:solidFill>
                <a:latin typeface="Pretendard"/>
              </a:rPr>
              <a:t> Outer Ring (IAF) → OLS 진입표면 (FAF)</a:t>
            </a: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DC20097B-706D-BF56-508D-C468078854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8802" y="1245685"/>
            <a:ext cx="2577765" cy="2481470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9F390434-2FCB-75E4-3227-DF1F9D59AD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8802" y="3775998"/>
            <a:ext cx="2577765" cy="2558325"/>
          </a:xfrm>
          <a:prstGeom prst="rect">
            <a:avLst/>
          </a:prstGeom>
        </p:spPr>
      </p:pic>
      <p:sp>
        <p:nvSpPr>
          <p:cNvPr id="29" name="Rounded Rectangle 2">
            <a:extLst>
              <a:ext uri="{FF2B5EF4-FFF2-40B4-BE49-F238E27FC236}">
                <a16:creationId xmlns:a16="http://schemas.microsoft.com/office/drawing/2014/main" id="{77D9BD5A-E210-0F03-0E20-8AE733D14CB0}"/>
              </a:ext>
            </a:extLst>
          </p:cNvPr>
          <p:cNvSpPr/>
          <p:nvPr/>
        </p:nvSpPr>
        <p:spPr>
          <a:xfrm>
            <a:off x="9204275" y="1985077"/>
            <a:ext cx="2787699" cy="942975"/>
          </a:xfrm>
          <a:prstGeom prst="roundRect">
            <a:avLst>
              <a:gd name="adj" fmla="val 1212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B46273A-20F6-1898-90DF-457E868F374A}"/>
              </a:ext>
            </a:extLst>
          </p:cNvPr>
          <p:cNvSpPr txBox="1"/>
          <p:nvPr/>
        </p:nvSpPr>
        <p:spPr>
          <a:xfrm>
            <a:off x="9328100" y="2108902"/>
            <a:ext cx="66198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E293B"/>
                </a:solidFill>
                <a:latin typeface="Pretendard"/>
              </a:rPr>
              <a:t>Dual Ring 수치 설정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B9F0FC4-0318-CCE2-826F-75D683DFC028}"/>
              </a:ext>
            </a:extLst>
          </p:cNvPr>
          <p:cNvSpPr txBox="1"/>
          <p:nvPr/>
        </p:nvSpPr>
        <p:spPr>
          <a:xfrm>
            <a:off x="9423350" y="2308927"/>
            <a:ext cx="38100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475569"/>
                </a:solidFill>
                <a:latin typeface="Pretendard"/>
              </a:rPr>
              <a:t>•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55D9B73-E5F6-A5FE-C514-09F4082FBB2F}"/>
              </a:ext>
            </a:extLst>
          </p:cNvPr>
          <p:cNvSpPr txBox="1"/>
          <p:nvPr/>
        </p:nvSpPr>
        <p:spPr>
          <a:xfrm>
            <a:off x="9461450" y="2318452"/>
            <a:ext cx="6453187" cy="161925"/>
          </a:xfrm>
          <a:prstGeom prst="rect">
            <a:avLst/>
          </a:prstGeom>
          <a:noFill/>
        </p:spPr>
        <p:txBody>
          <a:bodyPr wrap="none" lIns="3810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475569"/>
                </a:solidFill>
                <a:latin typeface="Pretendard"/>
              </a:rPr>
              <a:t>Inner Ring: 반경 2,000m / 고도 1,500ft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2B01F32-8331-CED9-5C70-8650B708C084}"/>
              </a:ext>
            </a:extLst>
          </p:cNvPr>
          <p:cNvSpPr txBox="1"/>
          <p:nvPr/>
        </p:nvSpPr>
        <p:spPr>
          <a:xfrm>
            <a:off x="9423350" y="2470852"/>
            <a:ext cx="38100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475569"/>
                </a:solidFill>
                <a:latin typeface="Pretendard"/>
              </a:rPr>
              <a:t>•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679DFF2-F890-FD94-417E-DE6BA428B0D8}"/>
              </a:ext>
            </a:extLst>
          </p:cNvPr>
          <p:cNvSpPr txBox="1"/>
          <p:nvPr/>
        </p:nvSpPr>
        <p:spPr>
          <a:xfrm>
            <a:off x="9461450" y="2480377"/>
            <a:ext cx="6453187" cy="161925"/>
          </a:xfrm>
          <a:prstGeom prst="rect">
            <a:avLst/>
          </a:prstGeom>
          <a:noFill/>
        </p:spPr>
        <p:txBody>
          <a:bodyPr wrap="none" lIns="3810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475569"/>
                </a:solidFill>
                <a:latin typeface="Pretendard"/>
              </a:rPr>
              <a:t>Outer Ring: 반경 2,800m / 고도 2,000ft (~609m)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8CCF980-7EBA-22D8-E494-D4ACAA01ECAA}"/>
              </a:ext>
            </a:extLst>
          </p:cNvPr>
          <p:cNvSpPr txBox="1"/>
          <p:nvPr/>
        </p:nvSpPr>
        <p:spPr>
          <a:xfrm>
            <a:off x="9423350" y="2632777"/>
            <a:ext cx="38100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475569"/>
                </a:solidFill>
                <a:latin typeface="Pretendard"/>
              </a:rPr>
              <a:t>•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410FD72-8C21-78B6-8E20-B10FCF902595}"/>
              </a:ext>
            </a:extLst>
          </p:cNvPr>
          <p:cNvSpPr txBox="1"/>
          <p:nvPr/>
        </p:nvSpPr>
        <p:spPr>
          <a:xfrm>
            <a:off x="9461450" y="2642302"/>
            <a:ext cx="6453187" cy="161925"/>
          </a:xfrm>
          <a:prstGeom prst="rect">
            <a:avLst/>
          </a:prstGeom>
          <a:noFill/>
        </p:spPr>
        <p:txBody>
          <a:bodyPr wrap="none" lIns="38100" tIns="0" rIns="0" bIns="0" anchor="t">
            <a:spAutoFit/>
          </a:bodyPr>
          <a:lstStyle/>
          <a:p>
            <a:pPr algn="l"/>
            <a:r>
              <a:rPr sz="900" b="0" i="0" u="none" dirty="0" err="1">
                <a:solidFill>
                  <a:srgbClr val="475569"/>
                </a:solidFill>
                <a:latin typeface="Pretendard"/>
              </a:rPr>
              <a:t>운항</a:t>
            </a:r>
            <a:r>
              <a:rPr sz="900" b="0" i="0" u="none" dirty="0">
                <a:solidFill>
                  <a:srgbClr val="475569"/>
                </a:solidFill>
                <a:latin typeface="Pretendard"/>
              </a:rPr>
              <a:t> </a:t>
            </a:r>
            <a:r>
              <a:rPr sz="900" b="0" i="0" u="none" dirty="0" err="1">
                <a:solidFill>
                  <a:srgbClr val="475569"/>
                </a:solidFill>
                <a:latin typeface="Pretendard"/>
              </a:rPr>
              <a:t>방향</a:t>
            </a:r>
            <a:r>
              <a:rPr sz="900" b="0" i="0" u="none" dirty="0">
                <a:solidFill>
                  <a:srgbClr val="475569"/>
                </a:solidFill>
                <a:latin typeface="Pretendard"/>
              </a:rPr>
              <a:t>: </a:t>
            </a:r>
            <a:r>
              <a:rPr sz="900" b="0" i="0" u="none" dirty="0" err="1">
                <a:solidFill>
                  <a:srgbClr val="475569"/>
                </a:solidFill>
                <a:latin typeface="Pretendard"/>
              </a:rPr>
              <a:t>Inner와</a:t>
            </a:r>
            <a:r>
              <a:rPr sz="900" b="0" i="0" u="none" dirty="0">
                <a:solidFill>
                  <a:srgbClr val="475569"/>
                </a:solidFill>
                <a:latin typeface="Pretendard"/>
              </a:rPr>
              <a:t> </a:t>
            </a:r>
            <a:r>
              <a:rPr sz="900" b="0" i="0" u="none" dirty="0" err="1">
                <a:solidFill>
                  <a:srgbClr val="475569"/>
                </a:solidFill>
                <a:latin typeface="Pretendard"/>
              </a:rPr>
              <a:t>Outer를</a:t>
            </a:r>
            <a:r>
              <a:rPr sz="900" b="0" i="0" u="none" dirty="0">
                <a:solidFill>
                  <a:srgbClr val="475569"/>
                </a:solidFill>
                <a:latin typeface="Pretendard"/>
              </a:rPr>
              <a:t> </a:t>
            </a:r>
            <a:r>
              <a:rPr sz="900" b="0" i="0" u="none" dirty="0" err="1">
                <a:solidFill>
                  <a:srgbClr val="475569"/>
                </a:solidFill>
                <a:latin typeface="Pretendard"/>
              </a:rPr>
              <a:t>서로</a:t>
            </a:r>
            <a:r>
              <a:rPr sz="900" b="0" i="0" u="none" dirty="0">
                <a:solidFill>
                  <a:srgbClr val="475569"/>
                </a:solidFill>
                <a:latin typeface="Pretendard"/>
              </a:rPr>
              <a:t> </a:t>
            </a:r>
            <a:r>
              <a:rPr sz="900" b="0" i="0" u="none" dirty="0" err="1">
                <a:solidFill>
                  <a:srgbClr val="475569"/>
                </a:solidFill>
                <a:latin typeface="Pretendard"/>
              </a:rPr>
              <a:t>정반대로</a:t>
            </a:r>
            <a:r>
              <a:rPr sz="900" b="0" i="0" u="none" dirty="0">
                <a:solidFill>
                  <a:srgbClr val="475569"/>
                </a:solidFill>
                <a:latin typeface="Pretendard"/>
              </a:rPr>
              <a:t> </a:t>
            </a:r>
            <a:r>
              <a:rPr sz="900" b="0" i="0" u="none" dirty="0" err="1">
                <a:solidFill>
                  <a:srgbClr val="475569"/>
                </a:solidFill>
                <a:latin typeface="Pretendard"/>
              </a:rPr>
              <a:t>설정</a:t>
            </a:r>
            <a:endParaRPr sz="900" b="0" i="0" u="none" dirty="0">
              <a:solidFill>
                <a:srgbClr val="475569"/>
              </a:solidFill>
              <a:latin typeface="Pretendard"/>
            </a:endParaRPr>
          </a:p>
        </p:txBody>
      </p:sp>
      <p:sp>
        <p:nvSpPr>
          <p:cNvPr id="46" name="Rounded Rectangle 3">
            <a:extLst>
              <a:ext uri="{FF2B5EF4-FFF2-40B4-BE49-F238E27FC236}">
                <a16:creationId xmlns:a16="http://schemas.microsoft.com/office/drawing/2014/main" id="{E953682A-E774-D994-A3B9-317DC164F63B}"/>
              </a:ext>
            </a:extLst>
          </p:cNvPr>
          <p:cNvSpPr/>
          <p:nvPr/>
        </p:nvSpPr>
        <p:spPr>
          <a:xfrm>
            <a:off x="9204275" y="4514092"/>
            <a:ext cx="2787699" cy="942974"/>
          </a:xfrm>
          <a:prstGeom prst="roundRect">
            <a:avLst>
              <a:gd name="adj" fmla="val 1463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C787C3E-4F3D-3A3C-9EBE-9DD2082B12BF}"/>
              </a:ext>
            </a:extLst>
          </p:cNvPr>
          <p:cNvSpPr txBox="1"/>
          <p:nvPr/>
        </p:nvSpPr>
        <p:spPr>
          <a:xfrm>
            <a:off x="9328100" y="4637917"/>
            <a:ext cx="58769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E293B"/>
                </a:solidFill>
                <a:latin typeface="Pretendard"/>
              </a:rPr>
              <a:t>Interchange (입체 교차) 설계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9D4E12C-42BE-7EEC-E762-4FB5FA88E842}"/>
              </a:ext>
            </a:extLst>
          </p:cNvPr>
          <p:cNvSpPr txBox="1"/>
          <p:nvPr/>
        </p:nvSpPr>
        <p:spPr>
          <a:xfrm>
            <a:off x="9328100" y="4847467"/>
            <a:ext cx="539115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475569"/>
                </a:solidFill>
                <a:latin typeface="Pretendard"/>
              </a:rPr>
              <a:t>각 </a:t>
            </a:r>
            <a:r>
              <a:rPr sz="900" b="0" i="0" u="none" dirty="0" err="1">
                <a:solidFill>
                  <a:srgbClr val="475569"/>
                </a:solidFill>
                <a:latin typeface="Pretendard"/>
              </a:rPr>
              <a:t>원에서</a:t>
            </a:r>
            <a:r>
              <a:rPr sz="900" b="0" i="0" u="none" dirty="0">
                <a:solidFill>
                  <a:srgbClr val="475569"/>
                </a:solidFill>
                <a:latin typeface="Pretendard"/>
              </a:rPr>
              <a:t> </a:t>
            </a:r>
            <a:r>
              <a:rPr sz="900" b="1" i="0" u="none" dirty="0">
                <a:solidFill>
                  <a:srgbClr val="475569"/>
                </a:solidFill>
                <a:latin typeface="Pretendard"/>
              </a:rPr>
              <a:t>1km </a:t>
            </a:r>
            <a:r>
              <a:rPr sz="900" b="1" i="0" u="none" dirty="0" err="1">
                <a:solidFill>
                  <a:srgbClr val="475569"/>
                </a:solidFill>
                <a:latin typeface="Pretendard"/>
              </a:rPr>
              <a:t>간격으로</a:t>
            </a:r>
            <a:r>
              <a:rPr sz="900" b="1" i="0" u="none" dirty="0">
                <a:solidFill>
                  <a:srgbClr val="475569"/>
                </a:solidFill>
                <a:latin typeface="Pretendard"/>
              </a:rPr>
              <a:t> </a:t>
            </a:r>
            <a:r>
              <a:rPr sz="900" b="1" i="0" u="none" dirty="0" err="1">
                <a:solidFill>
                  <a:srgbClr val="475569"/>
                </a:solidFill>
                <a:latin typeface="Pretendard"/>
              </a:rPr>
              <a:t>Interchange를</a:t>
            </a:r>
            <a:r>
              <a:rPr sz="900" b="1" i="0" u="none" dirty="0">
                <a:solidFill>
                  <a:srgbClr val="475569"/>
                </a:solidFill>
                <a:latin typeface="Pretendard"/>
              </a:rPr>
              <a:t> </a:t>
            </a:r>
            <a:r>
              <a:rPr sz="900" b="1" i="0" u="none" dirty="0" err="1">
                <a:solidFill>
                  <a:srgbClr val="475569"/>
                </a:solidFill>
                <a:latin typeface="Pretendard"/>
              </a:rPr>
              <a:t>생성</a:t>
            </a:r>
            <a:r>
              <a:rPr sz="900" b="0" i="0" u="none" dirty="0" err="1">
                <a:solidFill>
                  <a:srgbClr val="475569"/>
                </a:solidFill>
                <a:latin typeface="Pretendard"/>
              </a:rPr>
              <a:t>하여</a:t>
            </a:r>
            <a:r>
              <a:rPr sz="900" b="0" i="0" u="none" dirty="0">
                <a:solidFill>
                  <a:srgbClr val="475569"/>
                </a:solidFill>
                <a:latin typeface="Pretendard"/>
              </a:rPr>
              <a:t> </a:t>
            </a:r>
            <a:endParaRPr lang="en-US" sz="900" b="0" i="0" u="none" dirty="0">
              <a:solidFill>
                <a:srgbClr val="475569"/>
              </a:solidFill>
              <a:latin typeface="Pretendard"/>
            </a:endParaRPr>
          </a:p>
          <a:p>
            <a:pPr algn="l"/>
            <a:r>
              <a:rPr sz="900" b="0" i="0" u="none" dirty="0">
                <a:solidFill>
                  <a:srgbClr val="475569"/>
                </a:solidFill>
                <a:latin typeface="Pretendard"/>
              </a:rPr>
              <a:t>Inner/Outer Ring 간 </a:t>
            </a:r>
            <a:r>
              <a:rPr sz="900" b="0" i="0" u="none" dirty="0" err="1">
                <a:solidFill>
                  <a:srgbClr val="475569"/>
                </a:solidFill>
                <a:latin typeface="Pretendard"/>
              </a:rPr>
              <a:t>원활한</a:t>
            </a:r>
            <a:r>
              <a:rPr sz="900" b="0" i="0" u="none" dirty="0">
                <a:solidFill>
                  <a:srgbClr val="475569"/>
                </a:solidFill>
                <a:latin typeface="Pretendard"/>
              </a:rPr>
              <a:t> </a:t>
            </a:r>
            <a:r>
              <a:rPr sz="900" b="0" i="0" u="none" dirty="0" err="1">
                <a:solidFill>
                  <a:srgbClr val="475569"/>
                </a:solidFill>
                <a:latin typeface="Pretendard"/>
              </a:rPr>
              <a:t>Transition을</a:t>
            </a:r>
            <a:r>
              <a:rPr sz="900" b="0" i="0" u="none" dirty="0">
                <a:solidFill>
                  <a:srgbClr val="475569"/>
                </a:solidFill>
                <a:latin typeface="Pretendard"/>
              </a:rPr>
              <a:t> </a:t>
            </a:r>
            <a:r>
              <a:rPr sz="900" b="0" i="0" u="none" dirty="0" err="1">
                <a:solidFill>
                  <a:srgbClr val="475569"/>
                </a:solidFill>
                <a:latin typeface="Pretendard"/>
              </a:rPr>
              <a:t>지원하고</a:t>
            </a:r>
            <a:r>
              <a:rPr sz="900" b="0" i="0" u="none" dirty="0">
                <a:solidFill>
                  <a:srgbClr val="475569"/>
                </a:solidFill>
                <a:latin typeface="Pretendard"/>
              </a:rPr>
              <a:t> </a:t>
            </a:r>
            <a:endParaRPr lang="en-US" sz="900" b="0" i="0" u="none" dirty="0">
              <a:solidFill>
                <a:srgbClr val="475569"/>
              </a:solidFill>
              <a:latin typeface="Pretendard"/>
            </a:endParaRPr>
          </a:p>
          <a:p>
            <a:pPr algn="l"/>
            <a:r>
              <a:rPr sz="900" b="0" i="0" u="none" dirty="0" err="1">
                <a:solidFill>
                  <a:srgbClr val="475569"/>
                </a:solidFill>
                <a:latin typeface="Pretendard"/>
              </a:rPr>
              <a:t>최단</a:t>
            </a:r>
            <a:r>
              <a:rPr sz="900" b="0" i="0" u="none" dirty="0">
                <a:solidFill>
                  <a:srgbClr val="475569"/>
                </a:solidFill>
                <a:latin typeface="Pretendard"/>
              </a:rPr>
              <a:t> </a:t>
            </a:r>
            <a:r>
              <a:rPr sz="900" b="0" i="0" u="none" dirty="0" err="1">
                <a:solidFill>
                  <a:srgbClr val="475569"/>
                </a:solidFill>
                <a:latin typeface="Pretendard"/>
              </a:rPr>
              <a:t>비행</a:t>
            </a:r>
            <a:r>
              <a:rPr sz="900" b="0" i="0" u="none" dirty="0">
                <a:solidFill>
                  <a:srgbClr val="475569"/>
                </a:solidFill>
                <a:latin typeface="Pretendard"/>
              </a:rPr>
              <a:t> </a:t>
            </a:r>
            <a:r>
              <a:rPr sz="900" b="0" i="0" u="none" dirty="0" err="1">
                <a:solidFill>
                  <a:srgbClr val="475569"/>
                </a:solidFill>
                <a:latin typeface="Pretendard"/>
              </a:rPr>
              <a:t>경로를</a:t>
            </a:r>
            <a:r>
              <a:rPr sz="900" b="0" i="0" u="none" dirty="0">
                <a:solidFill>
                  <a:srgbClr val="475569"/>
                </a:solidFill>
                <a:latin typeface="Pretendard"/>
              </a:rPr>
              <a:t> </a:t>
            </a:r>
            <a:r>
              <a:rPr sz="900" b="0" i="0" u="none" dirty="0" err="1">
                <a:solidFill>
                  <a:srgbClr val="475569"/>
                </a:solidFill>
                <a:latin typeface="Pretendard"/>
              </a:rPr>
              <a:t>구현합니다</a:t>
            </a:r>
            <a:r>
              <a:rPr sz="900" b="0" i="0" u="none" dirty="0">
                <a:solidFill>
                  <a:srgbClr val="475569"/>
                </a:solidFill>
                <a:latin typeface="Pretendard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1014471" y="624780"/>
            <a:ext cx="720328" cy="247650"/>
          </a:xfrm>
          <a:prstGeom prst="roundRect">
            <a:avLst>
              <a:gd name="adj" fmla="val 15384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39130"/>
            <a:ext cx="5543550" cy="52673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50" y="1139130"/>
            <a:ext cx="5543550" cy="52673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109721" y="662880"/>
            <a:ext cx="625078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5803D"/>
                </a:solidFill>
                <a:latin typeface="Pretendard"/>
              </a:rPr>
              <a:t>최종 결과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2900"/>
            <a:ext cx="692757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retendard"/>
              </a:rPr>
              <a:t>STEP 11. FINAL ROUTE NETWORK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52450"/>
            <a:ext cx="5243423" cy="32060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 dirty="0">
                <a:solidFill>
                  <a:srgbClr val="0F172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</a:t>
            </a:r>
            <a:r>
              <a:rPr lang="ko-KR" altLang="en-US" sz="2100" b="1" dirty="0">
                <a:solidFill>
                  <a:srgbClr val="0F172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차로 선정된</a:t>
            </a:r>
            <a:r>
              <a:rPr sz="2100" b="1" i="0" u="none" dirty="0">
                <a:solidFill>
                  <a:srgbClr val="0F172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Approach 및 Departure </a:t>
            </a:r>
            <a:r>
              <a:rPr sz="2100" b="1" i="0" u="none" dirty="0" err="1">
                <a:solidFill>
                  <a:srgbClr val="0F172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항로망</a:t>
            </a:r>
            <a:endParaRPr sz="2100" b="1" i="0" u="none" dirty="0">
              <a:solidFill>
                <a:srgbClr val="0F172A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-235743" y="6482655"/>
            <a:ext cx="6929437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1E293B"/>
                </a:solidFill>
                <a:latin typeface="Pretendard"/>
              </a:rPr>
              <a:t>최종 Approach (진입) 항로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16178" y="6482655"/>
            <a:ext cx="6693693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1E293B"/>
                </a:solidFill>
                <a:latin typeface="Pretendard"/>
              </a:rPr>
              <a:t>최종 Departure (출발) 항로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75A43AB6-C71E-3789-1BF1-A3C348F5E0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666" y="1671030"/>
            <a:ext cx="4576618" cy="4203524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2DCF36CE-91DD-266E-BF13-3A3B683A01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8011" y="1671029"/>
            <a:ext cx="4010025" cy="419981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450413" y="624780"/>
            <a:ext cx="1284386" cy="247650"/>
          </a:xfrm>
          <a:prstGeom prst="roundRect">
            <a:avLst>
              <a:gd name="adj" fmla="val 15384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199" y="5100317"/>
            <a:ext cx="5543550" cy="333375"/>
          </a:xfrm>
          <a:prstGeom prst="roundRect">
            <a:avLst>
              <a:gd name="adj" fmla="val 1714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91249" y="5100317"/>
            <a:ext cx="5543550" cy="333375"/>
          </a:xfrm>
          <a:prstGeom prst="roundRect">
            <a:avLst>
              <a:gd name="adj" fmla="val 1714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39131"/>
            <a:ext cx="5543550" cy="3830034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50" y="1139130"/>
            <a:ext cx="5543550" cy="38300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545663" y="662880"/>
            <a:ext cx="1189136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Pretendard"/>
              </a:rPr>
              <a:t>3D 경로 시뮬레이션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2900"/>
            <a:ext cx="702040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retendard"/>
              </a:rPr>
              <a:t>STEP 12. 3D ROUTE SIMULATION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52450"/>
            <a:ext cx="9734550" cy="3206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1" i="0" u="none" dirty="0" err="1">
                <a:solidFill>
                  <a:srgbClr val="0F172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개별</a:t>
            </a:r>
            <a:r>
              <a:rPr sz="2100" b="1" i="0" u="none" dirty="0">
                <a:solidFill>
                  <a:srgbClr val="0F172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3D </a:t>
            </a:r>
            <a:r>
              <a:rPr sz="2100" b="1" i="0" u="none" dirty="0" err="1">
                <a:solidFill>
                  <a:srgbClr val="0F172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항로</a:t>
            </a:r>
            <a:r>
              <a:rPr sz="2100" b="1" i="0" u="none" dirty="0">
                <a:solidFill>
                  <a:srgbClr val="0F172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및 </a:t>
            </a:r>
            <a:r>
              <a:rPr sz="2100" b="1" i="0" u="none" dirty="0" err="1">
                <a:solidFill>
                  <a:srgbClr val="0F172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고도</a:t>
            </a:r>
            <a:r>
              <a:rPr sz="2100" b="1" i="0" u="none" dirty="0">
                <a:solidFill>
                  <a:srgbClr val="0F172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2100" b="1" i="0" u="none" dirty="0" err="1">
                <a:solidFill>
                  <a:srgbClr val="0F172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변화</a:t>
            </a:r>
            <a:r>
              <a:rPr sz="2100" b="1" i="0" u="none" dirty="0">
                <a:solidFill>
                  <a:srgbClr val="0F172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2100" b="1" i="0" u="none" dirty="0" err="1">
                <a:solidFill>
                  <a:srgbClr val="0F172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분석</a:t>
            </a:r>
            <a:r>
              <a:rPr sz="2100" b="1" i="0" u="none" dirty="0">
                <a:solidFill>
                  <a:srgbClr val="0F172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(Route 05 / 08)</a:t>
            </a:r>
            <a:r>
              <a:rPr lang="en-US" sz="2100" b="1" i="0" u="none" dirty="0">
                <a:solidFill>
                  <a:srgbClr val="0F172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– 1</a:t>
            </a:r>
            <a:r>
              <a:rPr lang="ko-KR" altLang="en-US" sz="2100" b="1" i="0" u="none" dirty="0">
                <a:solidFill>
                  <a:srgbClr val="0F172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차 항로 생성에서 생긴 문제점</a:t>
            </a:r>
            <a:endParaRPr sz="2100" b="1" i="0" u="none" dirty="0">
              <a:solidFill>
                <a:srgbClr val="0F172A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71499" y="5176517"/>
            <a:ext cx="54102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 dirty="0">
                <a:solidFill>
                  <a:srgbClr val="334155"/>
                </a:solidFill>
                <a:latin typeface="Pretendard"/>
              </a:rPr>
              <a:t>ROUTE 05:</a:t>
            </a:r>
            <a:r>
              <a:rPr sz="900" b="0" i="0" u="none" dirty="0">
                <a:solidFill>
                  <a:srgbClr val="334155"/>
                </a:solidFill>
                <a:latin typeface="Pretendard"/>
              </a:rPr>
              <a:t> </a:t>
            </a:r>
            <a:r>
              <a:rPr lang="en-US" sz="900" b="0" i="0" u="none" dirty="0">
                <a:solidFill>
                  <a:srgbClr val="334155"/>
                </a:solidFill>
                <a:latin typeface="Pretendard"/>
              </a:rPr>
              <a:t> </a:t>
            </a:r>
            <a:r>
              <a:rPr sz="900" b="0" i="0" u="none" dirty="0">
                <a:solidFill>
                  <a:srgbClr val="334155"/>
                </a:solidFill>
                <a:latin typeface="Pretendard"/>
              </a:rPr>
              <a:t> </a:t>
            </a:r>
            <a:r>
              <a:rPr lang="en-US" sz="900" b="0" i="0" u="none" dirty="0" err="1">
                <a:solidFill>
                  <a:srgbClr val="334155"/>
                </a:solidFill>
                <a:latin typeface="Pretendard"/>
              </a:rPr>
              <a:t>Outer_Ring</a:t>
            </a:r>
            <a:r>
              <a:rPr lang="en-US" sz="900" b="0" i="0" u="none" dirty="0">
                <a:solidFill>
                  <a:srgbClr val="334155"/>
                </a:solidFill>
                <a:latin typeface="Pretendard"/>
              </a:rPr>
              <a:t>(I</a:t>
            </a:r>
            <a:r>
              <a:rPr sz="900" b="0" i="0" u="none" dirty="0">
                <a:solidFill>
                  <a:srgbClr val="334155"/>
                </a:solidFill>
                <a:latin typeface="Pretendard"/>
              </a:rPr>
              <a:t>AF</a:t>
            </a:r>
            <a:r>
              <a:rPr lang="en-US" sz="900" b="0" i="0" u="none" dirty="0">
                <a:solidFill>
                  <a:srgbClr val="334155"/>
                </a:solidFill>
                <a:latin typeface="Pretendard"/>
              </a:rPr>
              <a:t>)</a:t>
            </a:r>
            <a:r>
              <a:rPr sz="900" b="0" i="0" u="none" dirty="0">
                <a:solidFill>
                  <a:srgbClr val="334155"/>
                </a:solidFill>
                <a:latin typeface="Pretendard"/>
              </a:rPr>
              <a:t> → OLS </a:t>
            </a:r>
            <a:r>
              <a:rPr sz="900" b="0" i="0" u="none" dirty="0" err="1">
                <a:solidFill>
                  <a:srgbClr val="334155"/>
                </a:solidFill>
                <a:latin typeface="Pretendard"/>
              </a:rPr>
              <a:t>중심선</a:t>
            </a:r>
            <a:r>
              <a:rPr sz="900" b="0" i="0" u="none" dirty="0">
                <a:solidFill>
                  <a:srgbClr val="334155"/>
                </a:solidFill>
                <a:latin typeface="Pretendard"/>
              </a:rPr>
              <a:t> </a:t>
            </a:r>
            <a:r>
              <a:rPr sz="900" b="0" i="0" u="none" dirty="0" err="1">
                <a:solidFill>
                  <a:srgbClr val="334155"/>
                </a:solidFill>
                <a:latin typeface="Pretendard"/>
              </a:rPr>
              <a:t>하강</a:t>
            </a:r>
            <a:r>
              <a:rPr lang="en-US" sz="900" b="0" i="0" u="none" dirty="0">
                <a:solidFill>
                  <a:srgbClr val="334155"/>
                </a:solidFill>
                <a:latin typeface="Pretendard"/>
              </a:rPr>
              <a:t>(</a:t>
            </a:r>
            <a:r>
              <a:rPr lang="en-US" sz="900" dirty="0">
                <a:solidFill>
                  <a:srgbClr val="334155"/>
                </a:solidFill>
                <a:latin typeface="Pretendard"/>
              </a:rPr>
              <a:t>FAF)</a:t>
            </a:r>
            <a:r>
              <a:rPr sz="900" b="0" i="0" u="none" dirty="0">
                <a:solidFill>
                  <a:srgbClr val="334155"/>
                </a:solidFill>
                <a:latin typeface="Pretendard"/>
              </a:rPr>
              <a:t> → </a:t>
            </a:r>
            <a:r>
              <a:rPr sz="900" b="0" i="0" u="none" dirty="0" err="1">
                <a:solidFill>
                  <a:srgbClr val="334155"/>
                </a:solidFill>
                <a:latin typeface="Pretendard"/>
              </a:rPr>
              <a:t>착륙</a:t>
            </a:r>
            <a:endParaRPr sz="900" b="0" i="0" u="none" dirty="0">
              <a:solidFill>
                <a:srgbClr val="334155"/>
              </a:solidFill>
              <a:latin typeface="Pretendard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305549" y="5176517"/>
            <a:ext cx="54102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1" i="0" u="none" dirty="0">
                <a:solidFill>
                  <a:srgbClr val="334155"/>
                </a:solidFill>
                <a:latin typeface="Pretendard"/>
              </a:rPr>
              <a:t>ROUTE 08:</a:t>
            </a:r>
            <a:r>
              <a:rPr sz="900" b="0" i="0" u="none" dirty="0">
                <a:solidFill>
                  <a:srgbClr val="334155"/>
                </a:solidFill>
                <a:latin typeface="Pretendard"/>
              </a:rPr>
              <a:t> </a:t>
            </a:r>
            <a:r>
              <a:rPr lang="en-US" altLang="ko-KR" sz="900" dirty="0" err="1">
                <a:solidFill>
                  <a:srgbClr val="334155"/>
                </a:solidFill>
                <a:latin typeface="Pretendard"/>
              </a:rPr>
              <a:t>Outer_Ring</a:t>
            </a:r>
            <a:r>
              <a:rPr lang="en-US" altLang="ko-KR" sz="900" dirty="0">
                <a:solidFill>
                  <a:srgbClr val="334155"/>
                </a:solidFill>
                <a:latin typeface="Pretendard"/>
              </a:rPr>
              <a:t>(IAF)</a:t>
            </a:r>
            <a:r>
              <a:rPr lang="ko-KR" altLang="en-US" sz="900" dirty="0">
                <a:solidFill>
                  <a:srgbClr val="334155"/>
                </a:solidFill>
                <a:latin typeface="Pretendard"/>
              </a:rPr>
              <a:t> → </a:t>
            </a:r>
            <a:r>
              <a:rPr lang="en-US" altLang="ko-KR" sz="900" dirty="0">
                <a:solidFill>
                  <a:srgbClr val="334155"/>
                </a:solidFill>
                <a:latin typeface="Pretendard"/>
              </a:rPr>
              <a:t>OLS </a:t>
            </a:r>
            <a:r>
              <a:rPr lang="ko-KR" altLang="en-US" sz="900" dirty="0">
                <a:solidFill>
                  <a:srgbClr val="334155"/>
                </a:solidFill>
                <a:latin typeface="Pretendard"/>
              </a:rPr>
              <a:t>중심선 하강</a:t>
            </a:r>
            <a:r>
              <a:rPr lang="en-US" altLang="ko-KR" sz="900" dirty="0">
                <a:solidFill>
                  <a:srgbClr val="334155"/>
                </a:solidFill>
                <a:latin typeface="Pretendard"/>
              </a:rPr>
              <a:t>(FAF)</a:t>
            </a:r>
            <a:r>
              <a:rPr lang="ko-KR" altLang="en-US" sz="900" dirty="0">
                <a:solidFill>
                  <a:srgbClr val="334155"/>
                </a:solidFill>
                <a:latin typeface="Pretendard"/>
              </a:rPr>
              <a:t> → 착륙</a:t>
            </a:r>
            <a:endParaRPr sz="900" b="0" i="0" u="none" dirty="0">
              <a:solidFill>
                <a:srgbClr val="334155"/>
              </a:solidFill>
              <a:latin typeface="Pretendard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C60075F2-5DA7-53C8-C267-2D9AE3DEB2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037" y="1538907"/>
            <a:ext cx="5095875" cy="309562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A146BD15-B1B5-A5D7-C66B-24D9B55C5A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8925" y="1590995"/>
            <a:ext cx="4743450" cy="30099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F0F13F1A-E60D-8E6C-17FD-9395D56EB7F3}"/>
              </a:ext>
            </a:extLst>
          </p:cNvPr>
          <p:cNvSpPr txBox="1"/>
          <p:nvPr/>
        </p:nvSpPr>
        <p:spPr>
          <a:xfrm>
            <a:off x="523873" y="5938517"/>
            <a:ext cx="11210927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1" i="0" u="none" dirty="0">
                <a:solidFill>
                  <a:srgbClr val="FF0000"/>
                </a:solidFill>
                <a:latin typeface="Pretendard"/>
              </a:rPr>
              <a:t>그림과 같이 </a:t>
            </a:r>
            <a:r>
              <a:rPr lang="en-US" altLang="ko-KR" sz="1200" b="1" i="0" u="none" dirty="0" err="1">
                <a:solidFill>
                  <a:srgbClr val="FF0000"/>
                </a:solidFill>
                <a:latin typeface="Pretendard"/>
              </a:rPr>
              <a:t>Outer</a:t>
            </a:r>
            <a:r>
              <a:rPr lang="en-US" altLang="ko-KR" sz="1200" b="1" dirty="0" err="1">
                <a:solidFill>
                  <a:srgbClr val="FF0000"/>
                </a:solidFill>
                <a:latin typeface="Pretendard"/>
              </a:rPr>
              <a:t>_Ring</a:t>
            </a:r>
            <a:r>
              <a:rPr lang="ko-KR" altLang="en-US" sz="1200" b="1" dirty="0">
                <a:solidFill>
                  <a:srgbClr val="FF0000"/>
                </a:solidFill>
                <a:latin typeface="Pretendard"/>
              </a:rPr>
              <a:t>에서 </a:t>
            </a:r>
            <a:r>
              <a:rPr lang="en-US" altLang="ko-KR" sz="1200" b="1" dirty="0">
                <a:solidFill>
                  <a:srgbClr val="FF0000"/>
                </a:solidFill>
                <a:latin typeface="Pretendard"/>
              </a:rPr>
              <a:t>Approach</a:t>
            </a:r>
            <a:r>
              <a:rPr lang="ko-KR" altLang="en-US" sz="1200" b="1" dirty="0">
                <a:solidFill>
                  <a:srgbClr val="FF0000"/>
                </a:solidFill>
                <a:latin typeface="Pretendard"/>
              </a:rPr>
              <a:t>를 시작하는 경우</a:t>
            </a:r>
            <a:r>
              <a:rPr lang="en-US" altLang="ko-KR" sz="1200" b="1" dirty="0">
                <a:solidFill>
                  <a:srgbClr val="FF0000"/>
                </a:solidFill>
                <a:latin typeface="Pretendard"/>
              </a:rPr>
              <a:t>, </a:t>
            </a:r>
            <a:r>
              <a:rPr lang="en-US" altLang="ko-KR" sz="1200" b="1" dirty="0" err="1">
                <a:solidFill>
                  <a:srgbClr val="FF0000"/>
                </a:solidFill>
                <a:latin typeface="Pretendard"/>
              </a:rPr>
              <a:t>Inner_Ring</a:t>
            </a:r>
            <a:r>
              <a:rPr lang="ko-KR" altLang="en-US" sz="1200" b="1" dirty="0">
                <a:solidFill>
                  <a:srgbClr val="FF0000"/>
                </a:solidFill>
                <a:latin typeface="Pretendard"/>
              </a:rPr>
              <a:t>과 </a:t>
            </a:r>
            <a:r>
              <a:rPr lang="en-US" altLang="ko-KR" sz="1200" b="1" dirty="0">
                <a:solidFill>
                  <a:srgbClr val="FF0000"/>
                </a:solidFill>
                <a:latin typeface="Pretendard"/>
              </a:rPr>
              <a:t>Intersection </a:t>
            </a:r>
            <a:r>
              <a:rPr lang="ko-KR" altLang="en-US" sz="1200" b="1" dirty="0">
                <a:solidFill>
                  <a:srgbClr val="FF0000"/>
                </a:solidFill>
                <a:latin typeface="Pretendard"/>
              </a:rPr>
              <a:t>되는 경우가 발생</a:t>
            </a:r>
            <a:endParaRPr lang="en-US" altLang="ko-KR" sz="1200" b="1" dirty="0">
              <a:solidFill>
                <a:srgbClr val="FF0000"/>
              </a:solidFill>
              <a:latin typeface="Pretendard"/>
            </a:endParaRPr>
          </a:p>
          <a:p>
            <a:pPr algn="l"/>
            <a:r>
              <a:rPr lang="ko-KR" altLang="en-US" sz="1200" b="1" i="0" u="none" dirty="0">
                <a:solidFill>
                  <a:srgbClr val="FF0000"/>
                </a:solidFill>
                <a:latin typeface="Pretendard"/>
              </a:rPr>
              <a:t> </a:t>
            </a:r>
            <a:r>
              <a:rPr lang="en-US" altLang="ko-KR" sz="1200" b="1" i="0" u="none" dirty="0">
                <a:solidFill>
                  <a:srgbClr val="FF0000"/>
                </a:solidFill>
                <a:latin typeface="Pretendard"/>
              </a:rPr>
              <a:t>-&gt; </a:t>
            </a:r>
            <a:r>
              <a:rPr lang="ko-KR" altLang="en-US" sz="1200" b="1" i="0" u="none" dirty="0">
                <a:solidFill>
                  <a:srgbClr val="FF0000"/>
                </a:solidFill>
                <a:latin typeface="Pretendard"/>
              </a:rPr>
              <a:t>따라서</a:t>
            </a:r>
            <a:r>
              <a:rPr lang="en-US" altLang="ko-KR" sz="1200" b="1" i="0" u="none" dirty="0">
                <a:solidFill>
                  <a:srgbClr val="FF0000"/>
                </a:solidFill>
                <a:latin typeface="Pretendard"/>
              </a:rPr>
              <a:t>, </a:t>
            </a:r>
            <a:r>
              <a:rPr lang="en-US" altLang="ko-KR" sz="1200" b="1" i="0" u="none" dirty="0" err="1">
                <a:solidFill>
                  <a:srgbClr val="FF0000"/>
                </a:solidFill>
                <a:latin typeface="Pretendard"/>
              </a:rPr>
              <a:t>Outer_Ring</a:t>
            </a:r>
            <a:r>
              <a:rPr lang="ko-KR" altLang="en-US" sz="1200" b="1" i="0" u="none" dirty="0">
                <a:solidFill>
                  <a:srgbClr val="FF0000"/>
                </a:solidFill>
                <a:latin typeface="Pretendard"/>
              </a:rPr>
              <a:t>에서 </a:t>
            </a:r>
            <a:r>
              <a:rPr lang="en-US" altLang="ko-KR" sz="1200" b="1" i="0" u="none" dirty="0">
                <a:solidFill>
                  <a:srgbClr val="FF0000"/>
                </a:solidFill>
                <a:latin typeface="Pretendard"/>
              </a:rPr>
              <a:t>IAF(Initial Approach Fix)</a:t>
            </a:r>
            <a:r>
              <a:rPr lang="ko-KR" altLang="en-US" sz="1200" b="1" i="0" u="none" dirty="0">
                <a:solidFill>
                  <a:srgbClr val="FF0000"/>
                </a:solidFill>
                <a:latin typeface="Pretendard"/>
              </a:rPr>
              <a:t>를 진행하는 경우 </a:t>
            </a:r>
            <a:r>
              <a:rPr lang="en-US" altLang="ko-KR" sz="1200" b="1" dirty="0">
                <a:solidFill>
                  <a:srgbClr val="FF0000"/>
                </a:solidFill>
                <a:highlight>
                  <a:srgbClr val="FFFF00"/>
                </a:highlight>
                <a:latin typeface="Pretendard"/>
              </a:rPr>
              <a:t>Separation </a:t>
            </a:r>
            <a:r>
              <a:rPr lang="ko-KR" altLang="en-US" sz="1200" b="1" dirty="0">
                <a:solidFill>
                  <a:srgbClr val="FF0000"/>
                </a:solidFill>
                <a:highlight>
                  <a:srgbClr val="FFFF00"/>
                </a:highlight>
                <a:latin typeface="Pretendard"/>
              </a:rPr>
              <a:t>확보가 어렵다는 것을 확인</a:t>
            </a:r>
            <a:r>
              <a:rPr lang="ko-KR" altLang="en-US" sz="1200" b="1" dirty="0">
                <a:solidFill>
                  <a:srgbClr val="FF0000"/>
                </a:solidFill>
                <a:latin typeface="Pretendard"/>
              </a:rPr>
              <a:t>할 수 있었다</a:t>
            </a:r>
            <a:r>
              <a:rPr lang="en-US" altLang="ko-KR" sz="1200" b="1" dirty="0">
                <a:solidFill>
                  <a:srgbClr val="FF0000"/>
                </a:solidFill>
                <a:latin typeface="Pretendard"/>
              </a:rPr>
              <a:t>.</a:t>
            </a:r>
          </a:p>
          <a:p>
            <a:pPr algn="l"/>
            <a:r>
              <a:rPr lang="en-US" sz="1200" b="1" i="0" u="none" dirty="0">
                <a:solidFill>
                  <a:srgbClr val="FF0000"/>
                </a:solidFill>
                <a:latin typeface="Pretendard"/>
              </a:rPr>
              <a:t>-&gt; </a:t>
            </a:r>
            <a:r>
              <a:rPr lang="ko-KR" altLang="en-US" sz="1200" b="1" i="0" u="none" dirty="0">
                <a:solidFill>
                  <a:srgbClr val="FF0000"/>
                </a:solidFill>
                <a:latin typeface="Pretendard"/>
              </a:rPr>
              <a:t>하지만</a:t>
            </a:r>
            <a:r>
              <a:rPr lang="en-US" altLang="ko-KR" sz="1200" b="1" i="0" u="none" dirty="0">
                <a:solidFill>
                  <a:srgbClr val="FF0000"/>
                </a:solidFill>
                <a:latin typeface="Pretendard"/>
              </a:rPr>
              <a:t>, </a:t>
            </a:r>
            <a:r>
              <a:rPr lang="ko-KR" altLang="en-US" sz="1200" b="1" i="0" u="none" dirty="0">
                <a:solidFill>
                  <a:srgbClr val="FF0000"/>
                </a:solidFill>
                <a:latin typeface="Pretendard"/>
              </a:rPr>
              <a:t>본 학습에서는 </a:t>
            </a:r>
            <a:r>
              <a:rPr lang="en-US" altLang="ko-KR" sz="1200" b="1" i="0" u="none" dirty="0" err="1">
                <a:solidFill>
                  <a:srgbClr val="FF0000"/>
                </a:solidFill>
                <a:highlight>
                  <a:srgbClr val="FFFF00"/>
                </a:highlight>
                <a:latin typeface="Pretendard"/>
              </a:rPr>
              <a:t>Outer_Ring</a:t>
            </a:r>
            <a:r>
              <a:rPr lang="ko-KR" altLang="en-US" sz="1200" b="1" i="0" u="none" dirty="0">
                <a:solidFill>
                  <a:srgbClr val="FF0000"/>
                </a:solidFill>
                <a:highlight>
                  <a:srgbClr val="FFFF00"/>
                </a:highlight>
                <a:latin typeface="Pretendard"/>
              </a:rPr>
              <a:t>에서의 </a:t>
            </a:r>
            <a:r>
              <a:rPr lang="en-US" altLang="ko-KR" sz="1200" b="1" i="0" u="none" dirty="0">
                <a:solidFill>
                  <a:srgbClr val="FF0000"/>
                </a:solidFill>
                <a:highlight>
                  <a:srgbClr val="FFFF00"/>
                </a:highlight>
                <a:latin typeface="Pretendard"/>
              </a:rPr>
              <a:t>Approach </a:t>
            </a:r>
            <a:r>
              <a:rPr lang="ko-KR" altLang="en-US" sz="1200" b="1" i="0" u="none" dirty="0">
                <a:solidFill>
                  <a:srgbClr val="FF0000"/>
                </a:solidFill>
                <a:highlight>
                  <a:srgbClr val="FFFF00"/>
                </a:highlight>
                <a:latin typeface="Pretendard"/>
              </a:rPr>
              <a:t>항로와 </a:t>
            </a:r>
            <a:r>
              <a:rPr lang="en-US" altLang="ko-KR" sz="1200" b="1" i="0" u="none" dirty="0" err="1">
                <a:solidFill>
                  <a:srgbClr val="FF0000"/>
                </a:solidFill>
                <a:highlight>
                  <a:srgbClr val="FFFF00"/>
                </a:highlight>
                <a:latin typeface="Pretendard"/>
              </a:rPr>
              <a:t>Inner_Ring</a:t>
            </a:r>
            <a:r>
              <a:rPr lang="en-US" altLang="ko-KR" sz="1200" b="1" i="0" u="none" dirty="0">
                <a:solidFill>
                  <a:srgbClr val="FF0000"/>
                </a:solidFill>
                <a:highlight>
                  <a:srgbClr val="FFFF00"/>
                </a:highlight>
                <a:latin typeface="Pretendard"/>
              </a:rPr>
              <a:t> </a:t>
            </a:r>
            <a:r>
              <a:rPr lang="ko-KR" altLang="en-US" sz="1200" b="1" i="0" u="none" dirty="0">
                <a:solidFill>
                  <a:srgbClr val="FF0000"/>
                </a:solidFill>
                <a:highlight>
                  <a:srgbClr val="FFFF00"/>
                </a:highlight>
                <a:latin typeface="Pretendard"/>
              </a:rPr>
              <a:t>사이에서의 수직 거리가 </a:t>
            </a:r>
            <a:r>
              <a:rPr lang="en-US" altLang="ko-KR" sz="1200" b="1" i="0" u="none" dirty="0">
                <a:solidFill>
                  <a:srgbClr val="FF0000"/>
                </a:solidFill>
                <a:highlight>
                  <a:srgbClr val="FFFF00"/>
                </a:highlight>
                <a:latin typeface="Pretendard"/>
              </a:rPr>
              <a:t>50m </a:t>
            </a:r>
            <a:r>
              <a:rPr lang="ko-KR" altLang="en-US" sz="1200" b="1" i="0" u="none" dirty="0">
                <a:solidFill>
                  <a:srgbClr val="FF0000"/>
                </a:solidFill>
                <a:highlight>
                  <a:srgbClr val="FFFF00"/>
                </a:highlight>
                <a:latin typeface="Pretendard"/>
              </a:rPr>
              <a:t>이상인 경우는 해당 항로를 유지</a:t>
            </a:r>
            <a:endParaRPr sz="1200" b="0" i="0" u="none" dirty="0">
              <a:solidFill>
                <a:srgbClr val="FF0000"/>
              </a:solidFill>
              <a:highlight>
                <a:srgbClr val="FFFF00"/>
              </a:highlight>
              <a:latin typeface="Pretendar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7304170" y="4896635"/>
            <a:ext cx="3691276" cy="978385"/>
          </a:xfrm>
          <a:prstGeom prst="roundRect">
            <a:avLst>
              <a:gd name="adj" fmla="val 1018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542294" y="5134760"/>
            <a:ext cx="981075" cy="219075"/>
          </a:xfrm>
          <a:prstGeom prst="roundRect">
            <a:avLst>
              <a:gd name="adj" fmla="val 17391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9688" y="1731169"/>
            <a:ext cx="3424238" cy="3066473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3253" y="5054750"/>
            <a:ext cx="266700" cy="2095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533400"/>
            <a:ext cx="115824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retendard"/>
              </a:rPr>
              <a:t>SECTION 08 DELIVERABLES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42950"/>
            <a:ext cx="5866991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 err="1">
                <a:solidFill>
                  <a:srgbClr val="0F172A"/>
                </a:solidFill>
                <a:latin typeface="Pretendard"/>
              </a:rPr>
              <a:t>최종</a:t>
            </a:r>
            <a:r>
              <a:rPr sz="2400" b="1" i="0" u="none" dirty="0">
                <a:solidFill>
                  <a:srgbClr val="0F172A"/>
                </a:solidFill>
                <a:latin typeface="Pretendard"/>
              </a:rPr>
              <a:t> </a:t>
            </a:r>
            <a:r>
              <a:rPr sz="2400" b="1" i="0" u="none" dirty="0" err="1">
                <a:solidFill>
                  <a:srgbClr val="0F172A"/>
                </a:solidFill>
                <a:latin typeface="Pretendard"/>
              </a:rPr>
              <a:t>결과물</a:t>
            </a:r>
            <a:r>
              <a:rPr sz="2400" b="1" i="0" u="none" dirty="0">
                <a:solidFill>
                  <a:srgbClr val="0F172A"/>
                </a:solidFill>
                <a:latin typeface="Pretendard"/>
              </a:rPr>
              <a:t> (Approach &amp; Departure Route)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2294" y="5449085"/>
            <a:ext cx="680650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retendard"/>
              </a:rPr>
              <a:t>최종 Departure 항로</a:t>
            </a:r>
          </a:p>
        </p:txBody>
      </p:sp>
      <p:sp>
        <p:nvSpPr>
          <p:cNvPr id="2" name="Rounded Rectangle 1"/>
          <p:cNvSpPr/>
          <p:nvPr/>
        </p:nvSpPr>
        <p:spPr>
          <a:xfrm>
            <a:off x="1929688" y="4896635"/>
            <a:ext cx="3424238" cy="978385"/>
          </a:xfrm>
          <a:prstGeom prst="roundRect">
            <a:avLst>
              <a:gd name="adj" fmla="val 1018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167813" y="5053789"/>
            <a:ext cx="981075" cy="219075"/>
          </a:xfrm>
          <a:prstGeom prst="roundRect">
            <a:avLst>
              <a:gd name="adj" fmla="val 17391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3319" y="5053789"/>
            <a:ext cx="266700" cy="2095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167813" y="5423530"/>
            <a:ext cx="342423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 dirty="0" err="1">
                <a:solidFill>
                  <a:srgbClr val="0F172A"/>
                </a:solidFill>
                <a:latin typeface="Pretendard"/>
              </a:rPr>
              <a:t>최종</a:t>
            </a:r>
            <a:r>
              <a:rPr sz="1500" b="1" i="0" u="none" dirty="0">
                <a:solidFill>
                  <a:srgbClr val="0F172A"/>
                </a:solidFill>
                <a:latin typeface="Pretendard"/>
              </a:rPr>
              <a:t> Approach </a:t>
            </a:r>
            <a:r>
              <a:rPr sz="1500" b="1" i="0" u="none" dirty="0" err="1">
                <a:solidFill>
                  <a:srgbClr val="0F172A"/>
                </a:solidFill>
                <a:latin typeface="Pretendard"/>
              </a:rPr>
              <a:t>항로</a:t>
            </a:r>
            <a:endParaRPr sz="1500" b="1" i="0" u="none" dirty="0">
              <a:solidFill>
                <a:srgbClr val="0F172A"/>
              </a:solidFill>
              <a:latin typeface="Pretendard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263063" y="5091889"/>
            <a:ext cx="885825" cy="150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0369A1"/>
                </a:solidFill>
                <a:latin typeface="Pretendard"/>
              </a:rPr>
              <a:t>PROCESSED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7544" y="5172860"/>
            <a:ext cx="8858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5803D"/>
                </a:solidFill>
                <a:latin typeface="Pretendard"/>
              </a:rPr>
              <a:t>PROCESSED</a:t>
            </a:r>
          </a:p>
        </p:txBody>
      </p:sp>
      <p:pic>
        <p:nvPicPr>
          <p:cNvPr id="20" name="Picture 5" descr="image.png">
            <a:extLst>
              <a:ext uri="{FF2B5EF4-FFF2-40B4-BE49-F238E27FC236}">
                <a16:creationId xmlns:a16="http://schemas.microsoft.com/office/drawing/2014/main" id="{81FF078F-35BE-02C1-66E4-F0AD5F3A36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4170" y="1729069"/>
            <a:ext cx="3691276" cy="3066473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64A4CB09-2F87-AFDC-58B2-6652785053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0800" y="1940921"/>
            <a:ext cx="2722013" cy="2642770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7B058C27-FDDF-8BAC-0CB2-09EA12A346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51483" y="1852541"/>
            <a:ext cx="2800091" cy="284675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B6727-302E-9315-D5FE-705A85F3E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image.png">
            <a:extLst>
              <a:ext uri="{FF2B5EF4-FFF2-40B4-BE49-F238E27FC236}">
                <a16:creationId xmlns:a16="http://schemas.microsoft.com/office/drawing/2014/main" id="{0D85830C-EA12-ADEC-A924-263E08E588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340602"/>
            <a:ext cx="4166313" cy="373101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9B3373A-E074-EE7F-0817-D0A3BA03A964}"/>
              </a:ext>
            </a:extLst>
          </p:cNvPr>
          <p:cNvSpPr txBox="1"/>
          <p:nvPr/>
        </p:nvSpPr>
        <p:spPr>
          <a:xfrm>
            <a:off x="609600" y="533400"/>
            <a:ext cx="115824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retendard"/>
              </a:rPr>
              <a:t>SECTION 08 DELIVERABLES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C8FAFD-F811-DF47-E994-29931E450872}"/>
              </a:ext>
            </a:extLst>
          </p:cNvPr>
          <p:cNvSpPr txBox="1"/>
          <p:nvPr/>
        </p:nvSpPr>
        <p:spPr>
          <a:xfrm>
            <a:off x="609600" y="742950"/>
            <a:ext cx="5866991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 err="1">
                <a:solidFill>
                  <a:srgbClr val="0F172A"/>
                </a:solidFill>
                <a:latin typeface="Pretendard"/>
              </a:rPr>
              <a:t>최종</a:t>
            </a:r>
            <a:r>
              <a:rPr sz="2400" b="1" i="0" u="none" dirty="0">
                <a:solidFill>
                  <a:srgbClr val="0F172A"/>
                </a:solidFill>
                <a:latin typeface="Pretendard"/>
              </a:rPr>
              <a:t> </a:t>
            </a:r>
            <a:r>
              <a:rPr sz="2400" b="1" i="0" u="none" dirty="0" err="1">
                <a:solidFill>
                  <a:srgbClr val="0F172A"/>
                </a:solidFill>
                <a:latin typeface="Pretendard"/>
              </a:rPr>
              <a:t>결과물</a:t>
            </a:r>
            <a:r>
              <a:rPr sz="2400" b="1" i="0" u="none" dirty="0">
                <a:solidFill>
                  <a:srgbClr val="0F172A"/>
                </a:solidFill>
                <a:latin typeface="Pretendard"/>
              </a:rPr>
              <a:t> (Approach &amp; Departure Route)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7F5760-D543-6297-BEBB-3C57BDFC0934}"/>
              </a:ext>
            </a:extLst>
          </p:cNvPr>
          <p:cNvSpPr/>
          <p:nvPr/>
        </p:nvSpPr>
        <p:spPr>
          <a:xfrm>
            <a:off x="609600" y="5213342"/>
            <a:ext cx="4166313" cy="978385"/>
          </a:xfrm>
          <a:prstGeom prst="roundRect">
            <a:avLst>
              <a:gd name="adj" fmla="val 1018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330224F-EAA7-2D5B-6D68-6829A8BA9372}"/>
              </a:ext>
            </a:extLst>
          </p:cNvPr>
          <p:cNvSpPr/>
          <p:nvPr/>
        </p:nvSpPr>
        <p:spPr>
          <a:xfrm>
            <a:off x="847726" y="5370496"/>
            <a:ext cx="981075" cy="219075"/>
          </a:xfrm>
          <a:prstGeom prst="roundRect">
            <a:avLst>
              <a:gd name="adj" fmla="val 17391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630D97-03CD-7B52-29B6-C33BE0C7629C}"/>
              </a:ext>
            </a:extLst>
          </p:cNvPr>
          <p:cNvSpPr txBox="1"/>
          <p:nvPr/>
        </p:nvSpPr>
        <p:spPr>
          <a:xfrm>
            <a:off x="847726" y="5740237"/>
            <a:ext cx="342423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500" b="1" i="0" u="none" dirty="0">
                <a:solidFill>
                  <a:srgbClr val="0F172A"/>
                </a:solidFill>
                <a:latin typeface="Pretendard"/>
              </a:rPr>
              <a:t>전체 결과물 </a:t>
            </a:r>
            <a:r>
              <a:rPr lang="en-US" altLang="ko-KR" sz="1500" b="1" i="0" u="none" dirty="0">
                <a:solidFill>
                  <a:srgbClr val="0F172A"/>
                </a:solidFill>
                <a:latin typeface="Pretendard"/>
              </a:rPr>
              <a:t>– 2D</a:t>
            </a:r>
            <a:endParaRPr sz="1500" b="1" i="0" u="none" dirty="0">
              <a:solidFill>
                <a:srgbClr val="0F172A"/>
              </a:solidFill>
              <a:latin typeface="Pretendard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B4FC382-6FF9-731D-56DB-7C9C019B943D}"/>
              </a:ext>
            </a:extLst>
          </p:cNvPr>
          <p:cNvSpPr txBox="1"/>
          <p:nvPr/>
        </p:nvSpPr>
        <p:spPr>
          <a:xfrm>
            <a:off x="942976" y="5408596"/>
            <a:ext cx="885825" cy="150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0369A1"/>
                </a:solidFill>
                <a:latin typeface="Pretendard"/>
              </a:rPr>
              <a:t>PROCESSED</a:t>
            </a:r>
          </a:p>
        </p:txBody>
      </p:sp>
      <p:pic>
        <p:nvPicPr>
          <p:cNvPr id="13" name="Picture 5" descr="image.png">
            <a:extLst>
              <a:ext uri="{FF2B5EF4-FFF2-40B4-BE49-F238E27FC236}">
                <a16:creationId xmlns:a16="http://schemas.microsoft.com/office/drawing/2014/main" id="{20071F32-9174-AA85-9412-55287CA2DA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1" y="1340602"/>
            <a:ext cx="6029324" cy="3731015"/>
          </a:xfrm>
          <a:prstGeom prst="rect">
            <a:avLst/>
          </a:prstGeom>
        </p:spPr>
      </p:pic>
      <p:sp>
        <p:nvSpPr>
          <p:cNvPr id="18" name="Rounded Rectangle 1">
            <a:extLst>
              <a:ext uri="{FF2B5EF4-FFF2-40B4-BE49-F238E27FC236}">
                <a16:creationId xmlns:a16="http://schemas.microsoft.com/office/drawing/2014/main" id="{4F9AEF81-D2BE-E01D-2DE8-63CF5CCB2862}"/>
              </a:ext>
            </a:extLst>
          </p:cNvPr>
          <p:cNvSpPr/>
          <p:nvPr/>
        </p:nvSpPr>
        <p:spPr>
          <a:xfrm>
            <a:off x="5638801" y="5213342"/>
            <a:ext cx="6029324" cy="978385"/>
          </a:xfrm>
          <a:prstGeom prst="roundRect">
            <a:avLst>
              <a:gd name="adj" fmla="val 1018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3">
            <a:extLst>
              <a:ext uri="{FF2B5EF4-FFF2-40B4-BE49-F238E27FC236}">
                <a16:creationId xmlns:a16="http://schemas.microsoft.com/office/drawing/2014/main" id="{146B008B-3114-CC1D-73CB-210FB5DAA67D}"/>
              </a:ext>
            </a:extLst>
          </p:cNvPr>
          <p:cNvSpPr/>
          <p:nvPr/>
        </p:nvSpPr>
        <p:spPr>
          <a:xfrm>
            <a:off x="5876927" y="5370496"/>
            <a:ext cx="981075" cy="219075"/>
          </a:xfrm>
          <a:prstGeom prst="roundRect">
            <a:avLst>
              <a:gd name="adj" fmla="val 17391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23B2A4F-A244-575D-BC29-CAEA9F4F95EA}"/>
              </a:ext>
            </a:extLst>
          </p:cNvPr>
          <p:cNvSpPr txBox="1"/>
          <p:nvPr/>
        </p:nvSpPr>
        <p:spPr>
          <a:xfrm>
            <a:off x="5876927" y="5740237"/>
            <a:ext cx="342423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500" b="1" i="0" u="none" dirty="0">
                <a:solidFill>
                  <a:srgbClr val="0F172A"/>
                </a:solidFill>
                <a:latin typeface="Pretendard"/>
              </a:rPr>
              <a:t>전체 결과물 </a:t>
            </a:r>
            <a:r>
              <a:rPr lang="en-US" altLang="ko-KR" sz="1500" b="1" i="0" u="none" dirty="0">
                <a:solidFill>
                  <a:srgbClr val="0F172A"/>
                </a:solidFill>
                <a:latin typeface="Pretendard"/>
              </a:rPr>
              <a:t>– </a:t>
            </a:r>
            <a:r>
              <a:rPr lang="en-US" altLang="ko-KR" sz="1500" b="1" dirty="0">
                <a:solidFill>
                  <a:srgbClr val="0F172A"/>
                </a:solidFill>
                <a:latin typeface="Pretendard"/>
              </a:rPr>
              <a:t>3</a:t>
            </a:r>
            <a:r>
              <a:rPr lang="en-US" altLang="ko-KR" sz="1500" b="1" i="0" u="none" dirty="0">
                <a:solidFill>
                  <a:srgbClr val="0F172A"/>
                </a:solidFill>
                <a:latin typeface="Pretendard"/>
              </a:rPr>
              <a:t>D</a:t>
            </a:r>
            <a:endParaRPr sz="1500" b="1" i="0" u="none" dirty="0">
              <a:solidFill>
                <a:srgbClr val="0F172A"/>
              </a:solidFill>
              <a:latin typeface="Pretendard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012BEF5-785B-7447-91A6-EFA663ADD5BA}"/>
              </a:ext>
            </a:extLst>
          </p:cNvPr>
          <p:cNvSpPr txBox="1"/>
          <p:nvPr/>
        </p:nvSpPr>
        <p:spPr>
          <a:xfrm>
            <a:off x="5972177" y="5408596"/>
            <a:ext cx="885825" cy="150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0369A1"/>
                </a:solidFill>
                <a:latin typeface="Pretendard"/>
              </a:rPr>
              <a:t>PROCESSED</a:t>
            </a: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E6AF295C-7BB3-6491-C7B1-9EDE5A8350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906" y="1425215"/>
            <a:ext cx="3661061" cy="3570860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3AD88579-57A1-8C00-505F-555EFE6BA4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409" y="1639177"/>
            <a:ext cx="5866991" cy="2955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5320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4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12064" y="155448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677787"/>
                </a:solidFill>
                <a:latin typeface="Noto Sans CJK KR"/>
              </a:rPr>
              <a:t>10/27 · 옥상헬기장 Approach / Departure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155448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55E91"/>
                </a:solidFill>
                <a:latin typeface="Noto Sans CJK KR"/>
              </a:rPr>
              <a:t>SECTION 09  /  LIMITATIONS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93776" y="6345936"/>
            <a:ext cx="11192256" cy="13716"/>
          </a:xfrm>
          <a:prstGeom prst="rect">
            <a:avLst/>
          </a:prstGeom>
          <a:solidFill>
            <a:srgbClr val="DD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12064" y="6455664"/>
            <a:ext cx="457200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77787"/>
                </a:solidFill>
                <a:latin typeface="Noto Sans CJK KR"/>
              </a:rPr>
              <a:t>자료: 제공 PDF p.27 · Route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37376"/>
            <a:ext cx="5303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77787"/>
                </a:solidFill>
                <a:latin typeface="Noto Sans CJK KR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93776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55E91"/>
                </a:solidFill>
                <a:latin typeface="Noto Sans CJK KR"/>
              </a:rPr>
              <a:t>9. 한계점 — 사례 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850392"/>
            <a:ext cx="1115568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dirty="0">
                <a:solidFill>
                  <a:srgbClr val="142B44"/>
                </a:solidFill>
                <a:latin typeface="Noto Sans CJK KR"/>
              </a:rPr>
              <a:t>Route 05  |  </a:t>
            </a:r>
            <a:r>
              <a:rPr sz="2700" b="1" dirty="0" err="1">
                <a:solidFill>
                  <a:srgbClr val="142B44"/>
                </a:solidFill>
                <a:latin typeface="Noto Sans CJK KR"/>
              </a:rPr>
              <a:t>접근</a:t>
            </a:r>
            <a:r>
              <a:rPr sz="2700" b="1" dirty="0">
                <a:solidFill>
                  <a:srgbClr val="142B44"/>
                </a:solidFill>
                <a:latin typeface="Noto Sans CJK KR"/>
              </a:rPr>
              <a:t> </a:t>
            </a:r>
            <a:r>
              <a:rPr sz="2700" b="1" dirty="0" err="1">
                <a:solidFill>
                  <a:srgbClr val="142B44"/>
                </a:solidFill>
                <a:latin typeface="Noto Sans CJK KR"/>
              </a:rPr>
              <a:t>경로의</a:t>
            </a:r>
            <a:r>
              <a:rPr sz="2700" b="1" dirty="0">
                <a:solidFill>
                  <a:srgbClr val="142B44"/>
                </a:solidFill>
                <a:latin typeface="Noto Sans CJK KR"/>
              </a:rPr>
              <a:t> </a:t>
            </a:r>
            <a:r>
              <a:rPr sz="2700" b="1" dirty="0" err="1">
                <a:solidFill>
                  <a:srgbClr val="142B44"/>
                </a:solidFill>
                <a:latin typeface="Noto Sans CJK KR"/>
              </a:rPr>
              <a:t>급경사</a:t>
            </a:r>
            <a:endParaRPr sz="2700" b="1" dirty="0">
              <a:solidFill>
                <a:srgbClr val="142B44"/>
              </a:solidFill>
              <a:latin typeface="Noto Sans CJK KR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48640" y="1856231"/>
            <a:ext cx="8174736" cy="4270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D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rout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0373" y="1856231"/>
            <a:ext cx="6211269" cy="4270248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951976" y="1856231"/>
            <a:ext cx="2651760" cy="4270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D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80576" y="2066543"/>
            <a:ext cx="2194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55E91"/>
                </a:solidFill>
                <a:latin typeface="Noto Sans CJK KR"/>
              </a:rPr>
              <a:t>IAF → FAF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0576" y="2386584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42B44"/>
                </a:solidFill>
                <a:latin typeface="Noto Sans CJK KR"/>
              </a:rPr>
              <a:t>고도 변화 구간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89719" y="2971800"/>
            <a:ext cx="2176272" cy="22860"/>
          </a:xfrm>
          <a:prstGeom prst="rect">
            <a:avLst/>
          </a:prstGeom>
          <a:solidFill>
            <a:srgbClr val="DD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80576" y="3273552"/>
            <a:ext cx="219456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D46B2B"/>
                </a:solidFill>
                <a:latin typeface="Noto Sans CJK KR"/>
              </a:rPr>
              <a:t>−18.01°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0576" y="4050791"/>
            <a:ext cx="2194560" cy="5770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ko-KR" altLang="en-US" sz="1250" b="0" dirty="0">
                <a:solidFill>
                  <a:srgbClr val="263444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그림과 같이</a:t>
            </a:r>
            <a:r>
              <a:rPr lang="en-US" altLang="ko-KR" sz="1250" dirty="0">
                <a:solidFill>
                  <a:srgbClr val="263444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Approach </a:t>
            </a:r>
            <a:r>
              <a:rPr lang="ko-KR" altLang="en-US" sz="1250" dirty="0">
                <a:solidFill>
                  <a:srgbClr val="263444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과정에서 하강각도가 </a:t>
            </a:r>
            <a:r>
              <a:rPr lang="en-US" altLang="ko-KR" sz="1250" dirty="0">
                <a:solidFill>
                  <a:srgbClr val="263444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18</a:t>
            </a:r>
            <a:r>
              <a:rPr lang="ko-KR" altLang="en-US" sz="1250" dirty="0">
                <a:solidFill>
                  <a:srgbClr val="263444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도 정도 되는 사례들이 빈번히 발생</a:t>
            </a:r>
            <a:endParaRPr sz="1250" b="0" dirty="0">
              <a:solidFill>
                <a:srgbClr val="263444"/>
              </a:solidFill>
              <a:latin typeface="Noto Sans CJK KR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769643" y="4403377"/>
            <a:ext cx="2652563" cy="342900"/>
          </a:xfrm>
          <a:prstGeom prst="roundRect">
            <a:avLst>
              <a:gd name="adj" fmla="val 50000"/>
            </a:avLst>
          </a:prstGeom>
          <a:solidFill>
            <a:srgbClr val="232B3D"/>
          </a:solidFill>
          <a:ln w="9525">
            <a:solidFill>
              <a:srgbClr val="2E36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300" y="2111722"/>
            <a:ext cx="533400" cy="533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7000" y="2264122"/>
            <a:ext cx="177849" cy="228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845843" y="2873722"/>
            <a:ext cx="2500312" cy="523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000" b="1" i="0" u="none">
                <a:solidFill>
                  <a:srgbClr val="FFFFFF"/>
                </a:solidFill>
                <a:latin typeface="Pretendard"/>
              </a:rPr>
              <a:t>감사합니다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29415" y="3549997"/>
            <a:ext cx="613302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0" i="0" u="none">
                <a:solidFill>
                  <a:srgbClr val="94A3B8"/>
                </a:solidFill>
                <a:latin typeface="Pretendard"/>
              </a:rPr>
              <a:t>옥상헬기장 Approach &amp; Departure 최적화 연구 발표를 마칩니다.</a:t>
            </a:r>
            <a:r>
              <a:t>
</a:t>
            </a:r>
            <a:r>
              <a:rPr sz="1350" b="0" i="0" u="none">
                <a:solidFill>
                  <a:srgbClr val="94A3B8"/>
                </a:solidFill>
                <a:latin typeface="Pretendard"/>
              </a:rPr>
              <a:t> 질의응답 및 피드백을 부탁드립니다.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28573" y="4479577"/>
            <a:ext cx="2934704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F8FAFC"/>
                </a:solidFill>
                <a:latin typeface="Pretendard"/>
              </a:rPr>
              <a:t>10월 27일 최종 데이터 기준 작성 완료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1417</Words>
  <Application>Microsoft Office PowerPoint</Application>
  <PresentationFormat>와이드스크린</PresentationFormat>
  <Paragraphs>196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3" baseType="lpstr">
      <vt:lpstr>Pretendard Variable ExtraBold</vt:lpstr>
      <vt:lpstr>JetBrains Mono</vt:lpstr>
      <vt:lpstr>Pretendard</vt:lpstr>
      <vt:lpstr>Noto Sans KR</vt:lpstr>
      <vt:lpstr>Noto Sans CJK KR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Hyunho Choi</dc:creator>
  <cp:keywords/>
  <dc:description>generated using python-pptx</dc:description>
  <cp:lastModifiedBy>최현호</cp:lastModifiedBy>
  <cp:revision>2</cp:revision>
  <dcterms:created xsi:type="dcterms:W3CDTF">2013-01-27T09:14:16Z</dcterms:created>
  <dcterms:modified xsi:type="dcterms:W3CDTF">2026-10-27T17:06:21Z</dcterms:modified>
  <cp:category/>
</cp:coreProperties>
</file>